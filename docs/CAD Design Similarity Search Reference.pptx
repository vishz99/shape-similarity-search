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deck for the CAD shape similarity search proof of concept. Covers the method, the library modifications required to run BRepNet on current software, the results, the added capabilities, and how to use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the project and the scope of the proof of concept. Similarity here means feature composition (mix of extrusions, fillets, chamfers and similar), not size or proportions.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BRepNet is a topology-based message-passing network (coedge convolution), not a transformer. Mean-pooling the per-face hidden representation gives one vector per part. CadQuery is deliberately not installed in the brepnet environment because it bundles its own OpenCascade.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edits apply to the vendored copies of BRepNet and occwl under external/. Anyone rebuilding the environment must use the vendored BRepNet copy rather than upstream, otherwise the Lightning API changes cause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Unfiltered top-5 for the example query. Distances are squared Euclidean (L2) values as returned by FAISS IndexFlatL2 in the 84-dimensional embedding space. Insert thumbnails from data/processed/fusion360_subset (each STEP file has a matching PNG) or from notebooks/inspect_retrieval.ipynb.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cards in the app show a thumbnail, distance and part properties. When no design falls within the tolerance the app shows a "No matches within tolerance" message. Unreadable STEP uploads are rejected before embedding. Filter example for query 100243_9fb796fe_0006: 22124_6f71410e_0010 (25.7549) and 24470_21c25a2d_0002 (27.4739). New-part example filtered matches: 40800_7fa2d7a5_0000 (17.1243) and 22124_6f71410e_0011 (23.0212).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follow the repository README and should be re-checked against it after any change. The dataset (Fusion 360 Gallery Reconstruction) is not redistributed with the repository and is expected under data/raw/fusion360gallery/reconstruction/. run_batch_embeddings.py contains hardcoded paths and writes directly to outputs/embeddings.npy, so paths must be checked before re-running. The notebook notebooks/inspect_retrieval.ipynb provides visual inspection of a query and its top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are stated as observed during the proof of concept. Retrieval quality on complex parts has not been quantified with a formal benchmark; assessment so far is by manual visual spot-checks.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089692"/>
            <a:ext cx="10566436" cy="391102"/>
          </a:xfrm>
          <a:prstGeom prst="rect">
            <a:avLst/>
          </a:prstGeom>
          <a:noFill/>
          <a:ln/>
        </p:spPr>
        <p:txBody>
          <a:bodyPr wrap="square" lIns="0" tIns="0" rIns="0" bIns="0" rtlCol="0" anchor="t"/>
          <a:lstStyle>
            <a:lvl1pPr algn="l" indent="0" marL="0">
              <a:lnSpc>
                <a:spcPct val="115000"/>
              </a:lnSpc>
              <a:buNone/>
              <a:defRPr lang="en-US" sz="2800" dirty="0">
                <a:solidFill>
                  <a:srgbClr val="1B2430"/>
                </a:solidFill>
                <a:latin typeface="Georgia" pitchFamily="34" charset="0"/>
                <a:ea typeface="Georgia" pitchFamily="34" charset="-122"/>
                <a:cs typeface="Georgia"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82" y="1785594"/>
            <a:ext cx="10566418" cy="4259606"/>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089692"/>
            <a:ext cx="10566436" cy="391102"/>
          </a:xfrm>
          <a:prstGeom prst="rect">
            <a:avLst/>
          </a:prstGeom>
          <a:noFill/>
          <a:ln/>
        </p:spPr>
        <p:txBody>
          <a:bodyPr wrap="square" lIns="0" tIns="0" rIns="0" bIns="0" rtlCol="0" anchor="t"/>
          <a:lstStyle>
            <a:lvl1pPr algn="l" indent="0" marL="0">
              <a:lnSpc>
                <a:spcPct val="115000"/>
              </a:lnSpc>
              <a:buNone/>
              <a:defRPr lang="en-US" sz="2800" dirty="0">
                <a:solidFill>
                  <a:srgbClr val="1B2430"/>
                </a:solidFill>
                <a:latin typeface="Georgia" pitchFamily="34" charset="0"/>
                <a:ea typeface="Georgia" pitchFamily="34" charset="-122"/>
                <a:cs typeface="Georgia"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82" y="1785594"/>
            <a:ext cx="10566418" cy="4259606"/>
          </a:xfrm>
          <a:prstGeom prst="rect">
            <a:avLst/>
          </a:prstGeom>
          <a:noFill/>
          <a:ln/>
        </p:spPr>
        <p:txBody>
          <a:bodyPr wrap="square" lIns="0" tIns="0" rIns="0" bIns="0" rtlCol="0" anchor="t"/>
          <a:lstStyle>
            <a:lvl1pPr algn="l" indent="0" marL="0">
              <a:lnSpc>
                <a:spcPct val="140000"/>
              </a:lnSpc>
              <a:buNone/>
              <a:defRPr lang="en-US" sz="1600" dirty="0">
                <a:solidFill>
                  <a:srgbClr val="1B2430"/>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782" y="812782"/>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B4D9"/>
                </a:solidFill>
                <a:latin typeface="Arial" pitchFamily="34" charset="0"/>
                <a:ea typeface="Arial" pitchFamily="34" charset="-122"/>
                <a:cs typeface="Arial" pitchFamily="34" charset="-120"/>
              </a:rPr>
              <a:t>LATENTVIEW ANALYTICS | INDUSTRIALS | REFERENCE DOCUMENT</a:t>
            </a:r>
            <a:endParaRPr lang="en-US" sz="1200" dirty="0"/>
          </a:p>
        </p:txBody>
      </p:sp>
      <p:sp>
        <p:nvSpPr>
          <p:cNvPr id="3" name="Text 1"/>
          <p:cNvSpPr/>
          <p:nvPr>
            <p:ph type="title"/>
          </p:nvPr>
        </p:nvSpPr>
        <p:spPr>
          <a:xfrm>
            <a:off x="812782" y="2580499"/>
            <a:ext cx="10883429" cy="718849"/>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2F0EA"/>
                </a:solidFill>
                <a:latin typeface="Georgia" pitchFamily="18" charset="0"/>
                <a:ea typeface="Georgia" pitchFamily="18" charset="-122"/>
                <a:cs typeface="Georgia" pitchFamily="18" charset="-120"/>
              </a:rPr>
              <a:t>CAD Design Similarity Search</a:t>
            </a:r>
            <a:endParaRPr lang="en-US" sz="5200" dirty="0"/>
          </a:p>
        </p:txBody>
      </p:sp>
      <p:sp>
        <p:nvSpPr>
          <p:cNvPr id="4" name="Text 2"/>
          <p:cNvSpPr/>
          <p:nvPr/>
        </p:nvSpPr>
        <p:spPr>
          <a:xfrm>
            <a:off x="812782" y="3477076"/>
            <a:ext cx="8502650" cy="64236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D3DD"/>
                </a:solidFill>
                <a:latin typeface="Arial" pitchFamily="34" charset="0"/>
                <a:ea typeface="Arial" pitchFamily="34" charset="-122"/>
                <a:cs typeface="Arial" pitchFamily="34" charset="-120"/>
              </a:rPr>
              <a:t>Retrieval of structurally similar designs from a CAD repository using B-Rep embeddings from BRepNet and vector search with FAISS</a:t>
            </a:r>
            <a:endParaRPr lang="en-US" sz="1800" dirty="0"/>
          </a:p>
        </p:txBody>
      </p:sp>
      <p:sp>
        <p:nvSpPr>
          <p:cNvPr id="5" name="Shape 3"/>
          <p:cNvSpPr/>
          <p:nvPr/>
        </p:nvSpPr>
        <p:spPr>
          <a:xfrm>
            <a:off x="812782" y="5651428"/>
            <a:ext cx="10566436" cy="0"/>
          </a:xfrm>
          <a:prstGeom prst="line">
            <a:avLst/>
          </a:prstGeom>
          <a:noFill/>
          <a:ln w="6350">
            <a:solidFill>
              <a:srgbClr val="3A4A5E"/>
            </a:solidFill>
            <a:prstDash val="solid"/>
          </a:ln>
        </p:spPr>
      </p:sp>
      <p:sp>
        <p:nvSpPr>
          <p:cNvPr id="6" name="Text 4"/>
          <p:cNvSpPr/>
          <p:nvPr/>
        </p:nvSpPr>
        <p:spPr>
          <a:xfrm>
            <a:off x="812782" y="5831807"/>
            <a:ext cx="2700554"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D"/>
                </a:solidFill>
                <a:latin typeface="Arial" pitchFamily="34" charset="0"/>
                <a:ea typeface="Arial" pitchFamily="34" charset="-122"/>
                <a:cs typeface="Arial" pitchFamily="34" charset="-120"/>
              </a:rPr>
              <a:t>GenAI for CAD | Proof of concept</a:t>
            </a:r>
            <a:endParaRPr lang="en-US" sz="1200" dirty="0"/>
          </a:p>
        </p:txBody>
      </p:sp>
      <p:sp>
        <p:nvSpPr>
          <p:cNvPr id="7" name="Text 5"/>
          <p:cNvSpPr/>
          <p:nvPr/>
        </p:nvSpPr>
        <p:spPr>
          <a:xfrm>
            <a:off x="9088239" y="5831807"/>
            <a:ext cx="2290979"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3DD"/>
                </a:solidFill>
                <a:latin typeface="Arial" pitchFamily="34" charset="0"/>
                <a:ea typeface="Arial" pitchFamily="34" charset="-122"/>
                <a:cs typeface="Arial" pitchFamily="34" charset="-120"/>
              </a:rPr>
              <a:t>Vishal Prabu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79"/>
                </a:solidFill>
                <a:latin typeface="Arial" pitchFamily="34" charset="0"/>
                <a:ea typeface="Arial" pitchFamily="34" charset="-122"/>
                <a:cs typeface="Arial" pitchFamily="34" charset="-120"/>
              </a:rPr>
              <a:t>OVERVIEW</a:t>
            </a:r>
            <a:endParaRPr lang="en-US" sz="1200" dirty="0"/>
          </a:p>
        </p:txBody>
      </p:sp>
      <p:sp>
        <p:nvSpPr>
          <p:cNvPr id="3" name="Text 1"/>
          <p:cNvSpPr/>
          <p:nvPr>
            <p:ph type="title"/>
          </p:nvPr>
        </p:nvSpPr>
        <p:spPr>
          <a:xfrm>
            <a:off x="812782" y="1089692"/>
            <a:ext cx="10883429" cy="41650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430"/>
                </a:solidFill>
                <a:latin typeface="Georgia" pitchFamily="18" charset="0"/>
                <a:ea typeface="Georgia" pitchFamily="18" charset="-122"/>
                <a:cs typeface="Georgia" pitchFamily="18" charset="-120"/>
              </a:rPr>
              <a:t>Project overview and objectives</a:t>
            </a:r>
            <a:endParaRPr lang="en-US" sz="2800" dirty="0"/>
          </a:p>
        </p:txBody>
      </p:sp>
      <p:sp>
        <p:nvSpPr>
          <p:cNvPr id="4" name="Shape 2"/>
          <p:cNvSpPr/>
          <p:nvPr/>
        </p:nvSpPr>
        <p:spPr>
          <a:xfrm>
            <a:off x="812782" y="1690272"/>
            <a:ext cx="5080000" cy="0"/>
          </a:xfrm>
          <a:prstGeom prst="line">
            <a:avLst/>
          </a:prstGeom>
          <a:noFill/>
          <a:ln w="12700">
            <a:solidFill>
              <a:srgbClr val="1B2430"/>
            </a:solidFill>
            <a:prstDash val="solid"/>
          </a:ln>
        </p:spPr>
      </p:sp>
      <p:sp>
        <p:nvSpPr>
          <p:cNvPr id="5" name="Text 3"/>
          <p:cNvSpPr/>
          <p:nvPr/>
        </p:nvSpPr>
        <p:spPr>
          <a:xfrm>
            <a:off x="812782" y="1847814"/>
            <a:ext cx="5232400"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Problem</a:t>
            </a:r>
            <a:endParaRPr lang="en-US" sz="1600" dirty="0"/>
          </a:p>
        </p:txBody>
      </p:sp>
      <p:sp>
        <p:nvSpPr>
          <p:cNvPr id="6" name="Text 4"/>
          <p:cNvSpPr/>
          <p:nvPr/>
        </p:nvSpPr>
        <p:spPr>
          <a:xfrm>
            <a:off x="812782" y="2155121"/>
            <a:ext cx="5232400" cy="94975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Arial" pitchFamily="34" charset="0"/>
                <a:ea typeface="Arial" pitchFamily="34" charset="-122"/>
                <a:cs typeface="Arial" pitchFamily="34" charset="-120"/>
              </a:rPr>
              <a:t>Design repositories grow large, and locating an existing part that resembles a new one usually depends on file names, metadata or recall. Reuse opportunities are missed and near-duplicate parts are redesigned.</a:t>
            </a:r>
            <a:endParaRPr lang="en-US" sz="1300" dirty="0"/>
          </a:p>
        </p:txBody>
      </p:sp>
      <p:sp>
        <p:nvSpPr>
          <p:cNvPr id="7" name="Text 5"/>
          <p:cNvSpPr/>
          <p:nvPr/>
        </p:nvSpPr>
        <p:spPr>
          <a:xfrm>
            <a:off x="812782" y="3257261"/>
            <a:ext cx="5232400"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Approach</a:t>
            </a:r>
            <a:endParaRPr lang="en-US" sz="1600" dirty="0"/>
          </a:p>
        </p:txBody>
      </p:sp>
      <p:sp>
        <p:nvSpPr>
          <p:cNvPr id="8" name="Text 6"/>
          <p:cNvSpPr/>
          <p:nvPr/>
        </p:nvSpPr>
        <p:spPr>
          <a:xfrm>
            <a:off x="812782" y="3564568"/>
            <a:ext cx="5232400" cy="94975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Arial" pitchFamily="34" charset="0"/>
                <a:ea typeface="Arial" pitchFamily="34" charset="-122"/>
                <a:cs typeface="Arial" pitchFamily="34" charset="-120"/>
              </a:rPr>
              <a:t>A query part supplied as a STEP file is converted into a numerical embedding. The nearest embeddings in an indexed repository identify the most structurally similar designs. Query is by example part; text-to-shape search is not part of this pipeline.</a:t>
            </a:r>
            <a:endParaRPr lang="en-US" sz="1300" dirty="0"/>
          </a:p>
        </p:txBody>
      </p:sp>
      <p:sp>
        <p:nvSpPr>
          <p:cNvPr id="9" name="Shape 7"/>
          <p:cNvSpPr/>
          <p:nvPr/>
        </p:nvSpPr>
        <p:spPr>
          <a:xfrm>
            <a:off x="6299128" y="1690272"/>
            <a:ext cx="5080090" cy="0"/>
          </a:xfrm>
          <a:prstGeom prst="line">
            <a:avLst/>
          </a:prstGeom>
          <a:noFill/>
          <a:ln w="12700">
            <a:solidFill>
              <a:srgbClr val="1B2430"/>
            </a:solidFill>
            <a:prstDash val="solid"/>
          </a:ln>
        </p:spPr>
      </p:sp>
      <p:sp>
        <p:nvSpPr>
          <p:cNvPr id="10" name="Text 8"/>
          <p:cNvSpPr/>
          <p:nvPr/>
        </p:nvSpPr>
        <p:spPr>
          <a:xfrm>
            <a:off x="6299128" y="1847814"/>
            <a:ext cx="5232493"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Objectives</a:t>
            </a:r>
            <a:endParaRPr lang="en-US" sz="1600" dirty="0"/>
          </a:p>
        </p:txBody>
      </p:sp>
      <p:sp>
        <p:nvSpPr>
          <p:cNvPr id="11" name="Text 9"/>
          <p:cNvSpPr/>
          <p:nvPr/>
        </p:nvSpPr>
        <p:spPr>
          <a:xfrm>
            <a:off x="6299128" y="2218621"/>
            <a:ext cx="279364" cy="48757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4E79"/>
                </a:solidFill>
                <a:latin typeface="Arial" pitchFamily="34" charset="0"/>
                <a:ea typeface="Arial" pitchFamily="34" charset="-122"/>
                <a:cs typeface="Arial" pitchFamily="34" charset="-120"/>
              </a:rPr>
              <a:t>1</a:t>
            </a:r>
            <a:endParaRPr lang="en-US" sz="1300" dirty="0"/>
          </a:p>
        </p:txBody>
      </p:sp>
      <p:sp>
        <p:nvSpPr>
          <p:cNvPr id="12" name="Text 10"/>
          <p:cNvSpPr/>
          <p:nvPr/>
        </p:nvSpPr>
        <p:spPr>
          <a:xfrm>
            <a:off x="6654691" y="2218621"/>
            <a:ext cx="4866262"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Arial" pitchFamily="34" charset="0"/>
                <a:ea typeface="Arial" pitchFamily="34" charset="-122"/>
                <a:cs typeface="Arial" pitchFamily="34" charset="-120"/>
              </a:rPr>
              <a:t>End-to-end retrieval pipeline for B-Rep CAD models using open-source tools.</a:t>
            </a:r>
            <a:endParaRPr lang="en-US" sz="1300" dirty="0"/>
          </a:p>
        </p:txBody>
      </p:sp>
      <p:sp>
        <p:nvSpPr>
          <p:cNvPr id="13" name="Text 11"/>
          <p:cNvSpPr/>
          <p:nvPr/>
        </p:nvSpPr>
        <p:spPr>
          <a:xfrm>
            <a:off x="6299128" y="2807800"/>
            <a:ext cx="279364" cy="48757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4E79"/>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6654691" y="2807800"/>
            <a:ext cx="4866262"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Arial" pitchFamily="34" charset="0"/>
                <a:ea typeface="Arial" pitchFamily="34" charset="-122"/>
                <a:cs typeface="Arial" pitchFamily="34" charset="-120"/>
              </a:rPr>
              <a:t>Embeddings from native B-Rep topology with a pretrained model, without retraining.</a:t>
            </a:r>
            <a:endParaRPr lang="en-US" sz="1300" dirty="0"/>
          </a:p>
        </p:txBody>
      </p:sp>
      <p:sp>
        <p:nvSpPr>
          <p:cNvPr id="15" name="Text 13"/>
          <p:cNvSpPr/>
          <p:nvPr/>
        </p:nvSpPr>
        <p:spPr>
          <a:xfrm>
            <a:off x="6299128" y="3396979"/>
            <a:ext cx="279364" cy="48757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4E79"/>
                </a:solidFill>
                <a:latin typeface="Arial" pitchFamily="34" charset="0"/>
                <a:ea typeface="Arial" pitchFamily="34" charset="-122"/>
                <a:cs typeface="Arial" pitchFamily="34" charset="-120"/>
              </a:rPr>
              <a:t>3</a:t>
            </a:r>
            <a:endParaRPr lang="en-US" sz="1300" dirty="0"/>
          </a:p>
        </p:txBody>
      </p:sp>
      <p:sp>
        <p:nvSpPr>
          <p:cNvPr id="16" name="Text 14"/>
          <p:cNvSpPr/>
          <p:nvPr/>
        </p:nvSpPr>
        <p:spPr>
          <a:xfrm>
            <a:off x="6654691" y="3396979"/>
            <a:ext cx="4866262"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Arial" pitchFamily="34" charset="0"/>
                <a:ea typeface="Arial" pitchFamily="34" charset="-122"/>
                <a:cs typeface="Arial" pitchFamily="34" charset="-120"/>
              </a:rPr>
              <a:t>Ranked results with distance scores and part properties for every match.</a:t>
            </a:r>
            <a:endParaRPr lang="en-US" sz="1300" dirty="0"/>
          </a:p>
        </p:txBody>
      </p:sp>
      <p:sp>
        <p:nvSpPr>
          <p:cNvPr id="17" name="Text 15"/>
          <p:cNvSpPr/>
          <p:nvPr/>
        </p:nvSpPr>
        <p:spPr>
          <a:xfrm>
            <a:off x="6299128" y="3986158"/>
            <a:ext cx="279364" cy="48757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4E79"/>
                </a:solidFill>
                <a:latin typeface="Arial" pitchFamily="34" charset="0"/>
                <a:ea typeface="Arial" pitchFamily="34" charset="-122"/>
                <a:cs typeface="Arial" pitchFamily="34" charset="-120"/>
              </a:rPr>
              <a:t>4</a:t>
            </a:r>
            <a:endParaRPr lang="en-US" sz="1300" dirty="0"/>
          </a:p>
        </p:txBody>
      </p:sp>
      <p:sp>
        <p:nvSpPr>
          <p:cNvPr id="18" name="Text 16"/>
          <p:cNvSpPr/>
          <p:nvPr/>
        </p:nvSpPr>
        <p:spPr>
          <a:xfrm>
            <a:off x="6654691" y="3986158"/>
            <a:ext cx="4866262"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Arial" pitchFamily="34" charset="0"/>
                <a:ea typeface="Arial" pitchFamily="34" charset="-122"/>
                <a:cs typeface="Arial" pitchFamily="34" charset="-120"/>
              </a:rPr>
              <a:t>Size-aware filtering and search by a newly supplied STEP file, delivered through a web interface.</a:t>
            </a:r>
            <a:endParaRPr lang="en-US" sz="1300" dirty="0"/>
          </a:p>
        </p:txBody>
      </p:sp>
      <p:sp>
        <p:nvSpPr>
          <p:cNvPr id="19" name="Text 17"/>
          <p:cNvSpPr/>
          <p:nvPr/>
        </p:nvSpPr>
        <p:spPr>
          <a:xfrm>
            <a:off x="812782" y="4692054"/>
            <a:ext cx="10566436" cy="731513"/>
          </a:xfrm>
          <a:prstGeom prst="roundRect">
            <a:avLst>
              <a:gd name="adj" fmla="val 5208"/>
            </a:avLst>
          </a:prstGeom>
          <a:solidFill>
            <a:srgbClr val="ECEBE4"/>
          </a:solidFill>
          <a:ln/>
        </p:spPr>
        <p:txBody>
          <a:bodyPr wrap="square" lIns="191969" tIns="141241" rIns="0" bIns="115733"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Data source.</a:t>
            </a:r>
            <a:r>
              <a:rPr lang="en-US" sz="1200" dirty="0">
                <a:solidFill>
                  <a:srgbClr val="1B2430"/>
                </a:solidFill>
                <a:latin typeface="Arial" pitchFamily="34" charset="0"/>
                <a:ea typeface="Arial" pitchFamily="34" charset="-122"/>
                <a:cs typeface="Arial" pitchFamily="34" charset="-120"/>
              </a:rPr>
              <a:t> Fusion 360 Gallery Reconstruction Dataset (Autodesk Research): 500 final-stage designs sampled with fixed seed 42. The licence permits non-commercial research use only; client-facing or commercial use requires a separate licence review.</a:t>
            </a:r>
            <a:endParaRPr lang="en-US" sz="1200" dirty="0"/>
          </a:p>
        </p:txBody>
      </p:sp>
      <p:sp>
        <p:nvSpPr>
          <p:cNvPr id="20" name="Text 18"/>
          <p:cNvSpPr/>
          <p:nvPr/>
        </p:nvSpPr>
        <p:spPr>
          <a:xfrm>
            <a:off x="812782" y="6238242"/>
            <a:ext cx="719455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CAD Design Similarity Search | Reference document</a:t>
            </a:r>
            <a:endParaRPr lang="en-US" sz="1200" dirty="0"/>
          </a:p>
        </p:txBody>
      </p:sp>
      <p:sp>
        <p:nvSpPr>
          <p:cNvPr id="21" name="Text 19"/>
          <p:cNvSpPr/>
          <p:nvPr/>
        </p:nvSpPr>
        <p:spPr>
          <a:xfrm>
            <a:off x="9233862" y="6238242"/>
            <a:ext cx="2145265"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79"/>
                </a:solidFill>
                <a:latin typeface="Arial" pitchFamily="34" charset="0"/>
                <a:ea typeface="Arial" pitchFamily="34" charset="-122"/>
                <a:cs typeface="Arial" pitchFamily="34" charset="-120"/>
              </a:rPr>
              <a:t>METHOD</a:t>
            </a:r>
            <a:endParaRPr lang="en-US" sz="1200" dirty="0"/>
          </a:p>
        </p:txBody>
      </p:sp>
      <p:sp>
        <p:nvSpPr>
          <p:cNvPr id="3" name="Text 1"/>
          <p:cNvSpPr/>
          <p:nvPr>
            <p:ph type="title"/>
          </p:nvPr>
        </p:nvSpPr>
        <p:spPr>
          <a:xfrm>
            <a:off x="812782" y="1089692"/>
            <a:ext cx="10883429" cy="41650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430"/>
                </a:solidFill>
                <a:latin typeface="Georgia" pitchFamily="18" charset="0"/>
                <a:ea typeface="Georgia" pitchFamily="18" charset="-122"/>
                <a:cs typeface="Georgia" pitchFamily="18" charset="-120"/>
              </a:rPr>
              <a:t>Pipeline and technology stack</a:t>
            </a:r>
            <a:endParaRPr lang="en-US" sz="2800" dirty="0"/>
          </a:p>
        </p:txBody>
      </p:sp>
      <p:sp>
        <p:nvSpPr>
          <p:cNvPr id="4" name="Shape 2"/>
          <p:cNvSpPr/>
          <p:nvPr/>
        </p:nvSpPr>
        <p:spPr>
          <a:xfrm>
            <a:off x="815957" y="1687097"/>
            <a:ext cx="2292368" cy="2464107"/>
          </a:xfrm>
          <a:prstGeom prst="roundRect">
            <a:avLst>
              <a:gd name="adj" fmla="val 2078"/>
            </a:avLst>
          </a:prstGeom>
          <a:solidFill>
            <a:srgbClr val="FDFCF9"/>
          </a:solidFill>
          <a:ln w="6350">
            <a:solidFill>
              <a:srgbClr val="D4D3CB"/>
            </a:solidFill>
            <a:prstDash val="solid"/>
          </a:ln>
        </p:spPr>
      </p:sp>
      <p:sp>
        <p:nvSpPr>
          <p:cNvPr id="5" name="Text 3"/>
          <p:cNvSpPr/>
          <p:nvPr/>
        </p:nvSpPr>
        <p:spPr>
          <a:xfrm>
            <a:off x="996337" y="1867477"/>
            <a:ext cx="1989557"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79"/>
                </a:solidFill>
                <a:latin typeface="Arial" pitchFamily="34" charset="0"/>
                <a:ea typeface="Arial" pitchFamily="34" charset="-122"/>
                <a:cs typeface="Arial" pitchFamily="34" charset="-120"/>
              </a:rPr>
              <a:t>01 Parse</a:t>
            </a:r>
            <a:endParaRPr lang="en-US" sz="1200" dirty="0"/>
          </a:p>
        </p:txBody>
      </p:sp>
      <p:sp>
        <p:nvSpPr>
          <p:cNvPr id="6" name="Text 4"/>
          <p:cNvSpPr/>
          <p:nvPr/>
        </p:nvSpPr>
        <p:spPr>
          <a:xfrm>
            <a:off x="996337" y="2157016"/>
            <a:ext cx="1989557"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STEP to B-Rep</a:t>
            </a:r>
            <a:endParaRPr lang="en-US" sz="1600" dirty="0"/>
          </a:p>
        </p:txBody>
      </p:sp>
      <p:sp>
        <p:nvSpPr>
          <p:cNvPr id="7" name="Text 5"/>
          <p:cNvSpPr/>
          <p:nvPr/>
        </p:nvSpPr>
        <p:spPr>
          <a:xfrm>
            <a:off x="996337" y="2476951"/>
            <a:ext cx="1989557" cy="10924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rial" pitchFamily="34" charset="0"/>
                <a:ea typeface="Arial" pitchFamily="34" charset="-122"/>
                <a:cs typeface="Arial" pitchFamily="34" charset="-120"/>
              </a:rPr>
              <a:t>occwl 3.0.0 on pythonocc-core 7.7.0 reads the STEP file through OpenCascade and exposes faces, edges and coedges.</a:t>
            </a:r>
            <a:endParaRPr lang="en-US" sz="1200" dirty="0"/>
          </a:p>
        </p:txBody>
      </p:sp>
      <p:pic>
        <p:nvPicPr>
          <p:cNvPr id="8" name="Image 0" descr="arrow-right">    </p:cNvPr>
          <p:cNvPicPr>
            <a:picLocks noChangeAspect="1"/>
          </p:cNvPicPr>
          <p:nvPr/>
        </p:nvPicPr>
        <p:blipFill>
          <a:blip r:embed="rId1"/>
          <a:srcRect l="0" r="0" t="0" b="0"/>
          <a:stretch/>
        </p:blipFill>
        <p:spPr>
          <a:xfrm>
            <a:off x="3213064" y="2855606"/>
            <a:ext cx="254000" cy="127000"/>
          </a:xfrm>
          <a:prstGeom prst="rect">
            <a:avLst/>
          </a:prstGeom>
        </p:spPr>
      </p:pic>
      <p:sp>
        <p:nvSpPr>
          <p:cNvPr id="9" name="Shape 6"/>
          <p:cNvSpPr/>
          <p:nvPr/>
        </p:nvSpPr>
        <p:spPr>
          <a:xfrm>
            <a:off x="3571803" y="1687097"/>
            <a:ext cx="2292458" cy="2464107"/>
          </a:xfrm>
          <a:prstGeom prst="roundRect">
            <a:avLst>
              <a:gd name="adj" fmla="val 2077"/>
            </a:avLst>
          </a:prstGeom>
          <a:solidFill>
            <a:srgbClr val="FDFCF9"/>
          </a:solidFill>
          <a:ln w="6350">
            <a:solidFill>
              <a:srgbClr val="D4D3CB"/>
            </a:solidFill>
            <a:prstDash val="solid"/>
          </a:ln>
        </p:spPr>
      </p:sp>
      <p:sp>
        <p:nvSpPr>
          <p:cNvPr id="10" name="Text 7"/>
          <p:cNvSpPr/>
          <p:nvPr/>
        </p:nvSpPr>
        <p:spPr>
          <a:xfrm>
            <a:off x="3752182" y="1867477"/>
            <a:ext cx="1989650"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79"/>
                </a:solidFill>
                <a:latin typeface="Arial" pitchFamily="34" charset="0"/>
                <a:ea typeface="Arial" pitchFamily="34" charset="-122"/>
                <a:cs typeface="Arial" pitchFamily="34" charset="-120"/>
              </a:rPr>
              <a:t>02 Embed</a:t>
            </a:r>
            <a:endParaRPr lang="en-US" sz="1200" dirty="0"/>
          </a:p>
        </p:txBody>
      </p:sp>
      <p:sp>
        <p:nvSpPr>
          <p:cNvPr id="11" name="Text 8"/>
          <p:cNvSpPr/>
          <p:nvPr/>
        </p:nvSpPr>
        <p:spPr>
          <a:xfrm>
            <a:off x="3752182" y="2157016"/>
            <a:ext cx="1989650"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BRepNet</a:t>
            </a:r>
            <a:endParaRPr lang="en-US" sz="1600" dirty="0"/>
          </a:p>
        </p:txBody>
      </p:sp>
      <p:sp>
        <p:nvSpPr>
          <p:cNvPr id="12" name="Text 9"/>
          <p:cNvSpPr/>
          <p:nvPr/>
        </p:nvSpPr>
        <p:spPr>
          <a:xfrm>
            <a:off x="3752182" y="2476951"/>
            <a:ext cx="1989650" cy="10924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rial" pitchFamily="34" charset="0"/>
                <a:ea typeface="Arial" pitchFamily="34" charset="-122"/>
                <a:cs typeface="Arial" pitchFamily="34" charset="-120"/>
              </a:rPr>
              <a:t>Pretrained BRepNet passes messages over coedges. The 84-dimensional per-face hidden layer before the classifier is extracted.</a:t>
            </a:r>
            <a:endParaRPr lang="en-US" sz="1200" dirty="0"/>
          </a:p>
        </p:txBody>
      </p:sp>
      <p:pic>
        <p:nvPicPr>
          <p:cNvPr id="13" name="Image 1" descr="arrow-right">    </p:cNvPr>
          <p:cNvPicPr>
            <a:picLocks noChangeAspect="1"/>
          </p:cNvPicPr>
          <p:nvPr/>
        </p:nvPicPr>
        <p:blipFill>
          <a:blip r:embed="rId2"/>
          <a:srcRect l="0" r="0" t="0" b="0"/>
          <a:stretch/>
        </p:blipFill>
        <p:spPr>
          <a:xfrm>
            <a:off x="5969000" y="2855606"/>
            <a:ext cx="254000" cy="127000"/>
          </a:xfrm>
          <a:prstGeom prst="rect">
            <a:avLst/>
          </a:prstGeom>
        </p:spPr>
      </p:pic>
      <p:sp>
        <p:nvSpPr>
          <p:cNvPr id="14" name="Shape 10"/>
          <p:cNvSpPr/>
          <p:nvPr/>
        </p:nvSpPr>
        <p:spPr>
          <a:xfrm>
            <a:off x="6327739" y="1687097"/>
            <a:ext cx="2292368" cy="2464107"/>
          </a:xfrm>
          <a:prstGeom prst="roundRect">
            <a:avLst>
              <a:gd name="adj" fmla="val 2078"/>
            </a:avLst>
          </a:prstGeom>
          <a:solidFill>
            <a:srgbClr val="FDFCF9"/>
          </a:solidFill>
          <a:ln w="6350">
            <a:solidFill>
              <a:srgbClr val="D4D3CB"/>
            </a:solidFill>
            <a:prstDash val="solid"/>
          </a:ln>
        </p:spPr>
      </p:sp>
      <p:sp>
        <p:nvSpPr>
          <p:cNvPr id="15" name="Text 11"/>
          <p:cNvSpPr/>
          <p:nvPr/>
        </p:nvSpPr>
        <p:spPr>
          <a:xfrm>
            <a:off x="6508118" y="1867477"/>
            <a:ext cx="1989557"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79"/>
                </a:solidFill>
                <a:latin typeface="Arial" pitchFamily="34" charset="0"/>
                <a:ea typeface="Arial" pitchFamily="34" charset="-122"/>
                <a:cs typeface="Arial" pitchFamily="34" charset="-120"/>
              </a:rPr>
              <a:t>03 Pool</a:t>
            </a:r>
            <a:endParaRPr lang="en-US" sz="1200" dirty="0"/>
          </a:p>
        </p:txBody>
      </p:sp>
      <p:sp>
        <p:nvSpPr>
          <p:cNvPr id="16" name="Text 12"/>
          <p:cNvSpPr/>
          <p:nvPr/>
        </p:nvSpPr>
        <p:spPr>
          <a:xfrm>
            <a:off x="6508118" y="2157016"/>
            <a:ext cx="1989557"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Mean pooling</a:t>
            </a:r>
            <a:endParaRPr lang="en-US" sz="1600" dirty="0"/>
          </a:p>
        </p:txBody>
      </p:sp>
      <p:sp>
        <p:nvSpPr>
          <p:cNvPr id="17" name="Text 13"/>
          <p:cNvSpPr/>
          <p:nvPr/>
        </p:nvSpPr>
        <p:spPr>
          <a:xfrm>
            <a:off x="6508118" y="2476951"/>
            <a:ext cx="1989557" cy="1519274"/>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rial" pitchFamily="34" charset="0"/>
                <a:ea typeface="Arial" pitchFamily="34" charset="-122"/>
                <a:cs typeface="Arial" pitchFamily="34" charset="-120"/>
              </a:rPr>
              <a:t>Per-face vectors are averaged into one 84-dimensional embedding per part, stored as embeddings.npy (500 × 84, float32) with a filename manifest.</a:t>
            </a:r>
            <a:endParaRPr lang="en-US" sz="1200" dirty="0"/>
          </a:p>
        </p:txBody>
      </p:sp>
      <p:pic>
        <p:nvPicPr>
          <p:cNvPr id="18" name="Image 2" descr="arrow-right">    </p:cNvPr>
          <p:cNvPicPr>
            <a:picLocks noChangeAspect="1"/>
          </p:cNvPicPr>
          <p:nvPr/>
        </p:nvPicPr>
        <p:blipFill>
          <a:blip r:embed="rId3"/>
          <a:srcRect l="0" r="0" t="0" b="0"/>
          <a:stretch/>
        </p:blipFill>
        <p:spPr>
          <a:xfrm>
            <a:off x="8724846" y="2855606"/>
            <a:ext cx="254000" cy="127000"/>
          </a:xfrm>
          <a:prstGeom prst="rect">
            <a:avLst/>
          </a:prstGeom>
        </p:spPr>
      </p:pic>
      <p:sp>
        <p:nvSpPr>
          <p:cNvPr id="19" name="Shape 14"/>
          <p:cNvSpPr/>
          <p:nvPr/>
        </p:nvSpPr>
        <p:spPr>
          <a:xfrm>
            <a:off x="9083584" y="1687097"/>
            <a:ext cx="2292458" cy="2464107"/>
          </a:xfrm>
          <a:prstGeom prst="roundRect">
            <a:avLst>
              <a:gd name="adj" fmla="val 2077"/>
            </a:avLst>
          </a:prstGeom>
          <a:solidFill>
            <a:srgbClr val="FDFCF9"/>
          </a:solidFill>
          <a:ln w="6350">
            <a:solidFill>
              <a:srgbClr val="D4D3CB"/>
            </a:solidFill>
            <a:prstDash val="solid"/>
          </a:ln>
        </p:spPr>
      </p:sp>
      <p:sp>
        <p:nvSpPr>
          <p:cNvPr id="20" name="Text 15"/>
          <p:cNvSpPr/>
          <p:nvPr/>
        </p:nvSpPr>
        <p:spPr>
          <a:xfrm>
            <a:off x="9263964" y="1867477"/>
            <a:ext cx="1989650"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79"/>
                </a:solidFill>
                <a:latin typeface="Arial" pitchFamily="34" charset="0"/>
                <a:ea typeface="Arial" pitchFamily="34" charset="-122"/>
                <a:cs typeface="Arial" pitchFamily="34" charset="-120"/>
              </a:rPr>
              <a:t>04 Search</a:t>
            </a:r>
            <a:endParaRPr lang="en-US" sz="1200" dirty="0"/>
          </a:p>
        </p:txBody>
      </p:sp>
      <p:sp>
        <p:nvSpPr>
          <p:cNvPr id="21" name="Text 16"/>
          <p:cNvSpPr/>
          <p:nvPr/>
        </p:nvSpPr>
        <p:spPr>
          <a:xfrm>
            <a:off x="9263964" y="2157016"/>
            <a:ext cx="1989650"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FAISS</a:t>
            </a:r>
            <a:endParaRPr lang="en-US" sz="1600" dirty="0"/>
          </a:p>
        </p:txBody>
      </p:sp>
      <p:sp>
        <p:nvSpPr>
          <p:cNvPr id="22" name="Text 17"/>
          <p:cNvSpPr/>
          <p:nvPr/>
        </p:nvSpPr>
        <p:spPr>
          <a:xfrm>
            <a:off x="9263964" y="2476951"/>
            <a:ext cx="1989650" cy="130586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rial" pitchFamily="34" charset="0"/>
                <a:ea typeface="Arial" pitchFamily="34" charset="-122"/>
                <a:cs typeface="Arial" pitchFamily="34" charset="-120"/>
              </a:rPr>
              <a:t>IndexFlatL2 performs exact Euclidean search. Brute force is sufficient at 500 vectors; approximate indexes apply only at much larger scale.</a:t>
            </a:r>
            <a:endParaRPr lang="en-US" sz="1200" dirty="0"/>
          </a:p>
        </p:txBody>
      </p:sp>
      <p:sp>
        <p:nvSpPr>
          <p:cNvPr id="23" name="Text 18"/>
          <p:cNvSpPr/>
          <p:nvPr/>
        </p:nvSpPr>
        <p:spPr>
          <a:xfrm>
            <a:off x="812782" y="4357506"/>
            <a:ext cx="10883429"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Technology stack</a:t>
            </a:r>
            <a:endParaRPr lang="en-US" sz="1600" dirty="0"/>
          </a:p>
        </p:txBody>
      </p:sp>
      <p:sp>
        <p:nvSpPr>
          <p:cNvPr id="24" name="Shape 19"/>
          <p:cNvSpPr/>
          <p:nvPr/>
        </p:nvSpPr>
        <p:spPr>
          <a:xfrm>
            <a:off x="812782" y="4706052"/>
            <a:ext cx="2641564" cy="0"/>
          </a:xfrm>
          <a:prstGeom prst="line">
            <a:avLst/>
          </a:prstGeom>
          <a:noFill/>
          <a:ln w="6350">
            <a:solidFill>
              <a:srgbClr val="C9C8BF"/>
            </a:solidFill>
            <a:prstDash val="solid"/>
          </a:ln>
        </p:spPr>
      </p:sp>
      <p:sp>
        <p:nvSpPr>
          <p:cNvPr id="25" name="Text 20"/>
          <p:cNvSpPr/>
          <p:nvPr/>
        </p:nvSpPr>
        <p:spPr>
          <a:xfrm>
            <a:off x="812782" y="4784778"/>
            <a:ext cx="272081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Python 3.10</a:t>
            </a:r>
            <a:endParaRPr lang="en-US" sz="1200" dirty="0"/>
          </a:p>
        </p:txBody>
      </p:sp>
      <p:sp>
        <p:nvSpPr>
          <p:cNvPr id="26" name="Text 21"/>
          <p:cNvSpPr/>
          <p:nvPr/>
        </p:nvSpPr>
        <p:spPr>
          <a:xfrm>
            <a:off x="812782" y="5010817"/>
            <a:ext cx="2720811"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conda-forge environment brepnet</a:t>
            </a:r>
            <a:endParaRPr lang="en-US" sz="1200" dirty="0"/>
          </a:p>
        </p:txBody>
      </p:sp>
      <p:sp>
        <p:nvSpPr>
          <p:cNvPr id="27" name="Shape 22"/>
          <p:cNvSpPr/>
          <p:nvPr/>
        </p:nvSpPr>
        <p:spPr>
          <a:xfrm>
            <a:off x="3454346" y="4706052"/>
            <a:ext cx="2641654" cy="0"/>
          </a:xfrm>
          <a:prstGeom prst="line">
            <a:avLst/>
          </a:prstGeom>
          <a:noFill/>
          <a:ln w="6350">
            <a:solidFill>
              <a:srgbClr val="C9C8BF"/>
            </a:solidFill>
            <a:prstDash val="solid"/>
          </a:ln>
        </p:spPr>
      </p:sp>
      <p:sp>
        <p:nvSpPr>
          <p:cNvPr id="28" name="Text 23"/>
          <p:cNvSpPr/>
          <p:nvPr/>
        </p:nvSpPr>
        <p:spPr>
          <a:xfrm>
            <a:off x="3454346" y="4784778"/>
            <a:ext cx="2720904"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pythonocc-core 7.7.0</a:t>
            </a:r>
            <a:endParaRPr lang="en-US" sz="1200" dirty="0"/>
          </a:p>
        </p:txBody>
      </p:sp>
      <p:sp>
        <p:nvSpPr>
          <p:cNvPr id="29" name="Text 24"/>
          <p:cNvSpPr/>
          <p:nvPr/>
        </p:nvSpPr>
        <p:spPr>
          <a:xfrm>
            <a:off x="3454346" y="5010817"/>
            <a:ext cx="2720904"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OpenCascade bindings</a:t>
            </a:r>
            <a:endParaRPr lang="en-US" sz="1200" dirty="0"/>
          </a:p>
        </p:txBody>
      </p:sp>
      <p:sp>
        <p:nvSpPr>
          <p:cNvPr id="30" name="Shape 25"/>
          <p:cNvSpPr/>
          <p:nvPr/>
        </p:nvSpPr>
        <p:spPr>
          <a:xfrm>
            <a:off x="6096000" y="4706052"/>
            <a:ext cx="2641564" cy="0"/>
          </a:xfrm>
          <a:prstGeom prst="line">
            <a:avLst/>
          </a:prstGeom>
          <a:noFill/>
          <a:ln w="6350">
            <a:solidFill>
              <a:srgbClr val="C9C8BF"/>
            </a:solidFill>
            <a:prstDash val="solid"/>
          </a:ln>
        </p:spPr>
      </p:sp>
      <p:sp>
        <p:nvSpPr>
          <p:cNvPr id="31" name="Text 26"/>
          <p:cNvSpPr/>
          <p:nvPr/>
        </p:nvSpPr>
        <p:spPr>
          <a:xfrm>
            <a:off x="6096000" y="4784778"/>
            <a:ext cx="272081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occwl 3.0.0</a:t>
            </a:r>
            <a:endParaRPr lang="en-US" sz="1200" dirty="0"/>
          </a:p>
        </p:txBody>
      </p:sp>
      <p:sp>
        <p:nvSpPr>
          <p:cNvPr id="32" name="Text 27"/>
          <p:cNvSpPr/>
          <p:nvPr/>
        </p:nvSpPr>
        <p:spPr>
          <a:xfrm>
            <a:off x="6096000" y="5010817"/>
            <a:ext cx="2720811"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B-Rep API, built from source</a:t>
            </a:r>
            <a:endParaRPr lang="en-US" sz="1200" dirty="0"/>
          </a:p>
        </p:txBody>
      </p:sp>
      <p:sp>
        <p:nvSpPr>
          <p:cNvPr id="33" name="Shape 28"/>
          <p:cNvSpPr/>
          <p:nvPr/>
        </p:nvSpPr>
        <p:spPr>
          <a:xfrm>
            <a:off x="8737564" y="4706052"/>
            <a:ext cx="2641654" cy="0"/>
          </a:xfrm>
          <a:prstGeom prst="line">
            <a:avLst/>
          </a:prstGeom>
          <a:noFill/>
          <a:ln w="6350">
            <a:solidFill>
              <a:srgbClr val="C9C8BF"/>
            </a:solidFill>
            <a:prstDash val="solid"/>
          </a:ln>
        </p:spPr>
      </p:sp>
      <p:sp>
        <p:nvSpPr>
          <p:cNvPr id="34" name="Text 29"/>
          <p:cNvSpPr/>
          <p:nvPr/>
        </p:nvSpPr>
        <p:spPr>
          <a:xfrm>
            <a:off x="8737564" y="4784778"/>
            <a:ext cx="2720904"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BRepNet (patched)</a:t>
            </a:r>
            <a:endParaRPr lang="en-US" sz="1200" dirty="0"/>
          </a:p>
        </p:txBody>
      </p:sp>
      <p:sp>
        <p:nvSpPr>
          <p:cNvPr id="35" name="Text 30"/>
          <p:cNvSpPr/>
          <p:nvPr/>
        </p:nvSpPr>
        <p:spPr>
          <a:xfrm>
            <a:off x="8737564" y="5010817"/>
            <a:ext cx="2720904"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pretrained, inference only</a:t>
            </a:r>
            <a:endParaRPr lang="en-US" sz="1200" dirty="0"/>
          </a:p>
        </p:txBody>
      </p:sp>
      <p:sp>
        <p:nvSpPr>
          <p:cNvPr id="36" name="Shape 31"/>
          <p:cNvSpPr/>
          <p:nvPr/>
        </p:nvSpPr>
        <p:spPr>
          <a:xfrm>
            <a:off x="812782" y="5227402"/>
            <a:ext cx="2641564" cy="0"/>
          </a:xfrm>
          <a:prstGeom prst="line">
            <a:avLst/>
          </a:prstGeom>
          <a:noFill/>
          <a:ln w="6350">
            <a:solidFill>
              <a:srgbClr val="C9C8BF"/>
            </a:solidFill>
            <a:prstDash val="solid"/>
          </a:ln>
        </p:spPr>
      </p:sp>
      <p:sp>
        <p:nvSpPr>
          <p:cNvPr id="37" name="Text 32"/>
          <p:cNvSpPr/>
          <p:nvPr/>
        </p:nvSpPr>
        <p:spPr>
          <a:xfrm>
            <a:off x="812782" y="5306127"/>
            <a:ext cx="272081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PyTorch 2.14.0 (CPU)</a:t>
            </a:r>
            <a:endParaRPr lang="en-US" sz="1200" dirty="0"/>
          </a:p>
        </p:txBody>
      </p:sp>
      <p:sp>
        <p:nvSpPr>
          <p:cNvPr id="38" name="Text 33"/>
          <p:cNvSpPr/>
          <p:nvPr/>
        </p:nvSpPr>
        <p:spPr>
          <a:xfrm>
            <a:off x="812782" y="5532166"/>
            <a:ext cx="2720811"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model inference</a:t>
            </a:r>
            <a:endParaRPr lang="en-US" sz="1200" dirty="0"/>
          </a:p>
        </p:txBody>
      </p:sp>
      <p:sp>
        <p:nvSpPr>
          <p:cNvPr id="39" name="Shape 34"/>
          <p:cNvSpPr/>
          <p:nvPr/>
        </p:nvSpPr>
        <p:spPr>
          <a:xfrm>
            <a:off x="3454346" y="5227402"/>
            <a:ext cx="2641654" cy="0"/>
          </a:xfrm>
          <a:prstGeom prst="line">
            <a:avLst/>
          </a:prstGeom>
          <a:noFill/>
          <a:ln w="6350">
            <a:solidFill>
              <a:srgbClr val="C9C8BF"/>
            </a:solidFill>
            <a:prstDash val="solid"/>
          </a:ln>
        </p:spPr>
      </p:sp>
      <p:sp>
        <p:nvSpPr>
          <p:cNvPr id="40" name="Text 35"/>
          <p:cNvSpPr/>
          <p:nvPr/>
        </p:nvSpPr>
        <p:spPr>
          <a:xfrm>
            <a:off x="3454346" y="5306127"/>
            <a:ext cx="2720904"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PyTorch Lightning 2.6.5</a:t>
            </a:r>
            <a:endParaRPr lang="en-US" sz="1200" dirty="0"/>
          </a:p>
        </p:txBody>
      </p:sp>
      <p:sp>
        <p:nvSpPr>
          <p:cNvPr id="41" name="Text 36"/>
          <p:cNvSpPr/>
          <p:nvPr/>
        </p:nvSpPr>
        <p:spPr>
          <a:xfrm>
            <a:off x="3454346" y="5532166"/>
            <a:ext cx="2720904"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BRepNet runtime</a:t>
            </a:r>
            <a:endParaRPr lang="en-US" sz="1200" dirty="0"/>
          </a:p>
        </p:txBody>
      </p:sp>
      <p:sp>
        <p:nvSpPr>
          <p:cNvPr id="42" name="Shape 37"/>
          <p:cNvSpPr/>
          <p:nvPr/>
        </p:nvSpPr>
        <p:spPr>
          <a:xfrm>
            <a:off x="6096000" y="5227402"/>
            <a:ext cx="2641564" cy="0"/>
          </a:xfrm>
          <a:prstGeom prst="line">
            <a:avLst/>
          </a:prstGeom>
          <a:noFill/>
          <a:ln w="6350">
            <a:solidFill>
              <a:srgbClr val="C9C8BF"/>
            </a:solidFill>
            <a:prstDash val="solid"/>
          </a:ln>
        </p:spPr>
      </p:sp>
      <p:sp>
        <p:nvSpPr>
          <p:cNvPr id="43" name="Text 38"/>
          <p:cNvSpPr/>
          <p:nvPr/>
        </p:nvSpPr>
        <p:spPr>
          <a:xfrm>
            <a:off x="6096000" y="5306127"/>
            <a:ext cx="2720811"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faiss-cpu 1.15.1</a:t>
            </a:r>
            <a:endParaRPr lang="en-US" sz="1200" dirty="0"/>
          </a:p>
        </p:txBody>
      </p:sp>
      <p:sp>
        <p:nvSpPr>
          <p:cNvPr id="44" name="Text 39"/>
          <p:cNvSpPr/>
          <p:nvPr/>
        </p:nvSpPr>
        <p:spPr>
          <a:xfrm>
            <a:off x="6096000" y="5532166"/>
            <a:ext cx="2720811"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vector index</a:t>
            </a:r>
            <a:endParaRPr lang="en-US" sz="1200" dirty="0"/>
          </a:p>
        </p:txBody>
      </p:sp>
      <p:sp>
        <p:nvSpPr>
          <p:cNvPr id="45" name="Shape 40"/>
          <p:cNvSpPr/>
          <p:nvPr/>
        </p:nvSpPr>
        <p:spPr>
          <a:xfrm>
            <a:off x="8737564" y="5227402"/>
            <a:ext cx="2641654" cy="0"/>
          </a:xfrm>
          <a:prstGeom prst="line">
            <a:avLst/>
          </a:prstGeom>
          <a:noFill/>
          <a:ln w="6350">
            <a:solidFill>
              <a:srgbClr val="C9C8BF"/>
            </a:solidFill>
            <a:prstDash val="solid"/>
          </a:ln>
        </p:spPr>
      </p:sp>
      <p:sp>
        <p:nvSpPr>
          <p:cNvPr id="46" name="Text 41"/>
          <p:cNvSpPr/>
          <p:nvPr/>
        </p:nvSpPr>
        <p:spPr>
          <a:xfrm>
            <a:off x="8737564" y="5306127"/>
            <a:ext cx="2720904"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Streamlit 1.65.0</a:t>
            </a:r>
            <a:endParaRPr lang="en-US" sz="1200" dirty="0"/>
          </a:p>
        </p:txBody>
      </p:sp>
      <p:sp>
        <p:nvSpPr>
          <p:cNvPr id="47" name="Text 42"/>
          <p:cNvSpPr/>
          <p:nvPr/>
        </p:nvSpPr>
        <p:spPr>
          <a:xfrm>
            <a:off x="8737564" y="5532166"/>
            <a:ext cx="2720904"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web interface</a:t>
            </a:r>
            <a:endParaRPr lang="en-US" sz="1200" dirty="0"/>
          </a:p>
        </p:txBody>
      </p:sp>
      <p:sp>
        <p:nvSpPr>
          <p:cNvPr id="48" name="Text 43"/>
          <p:cNvSpPr/>
          <p:nvPr/>
        </p:nvSpPr>
        <p:spPr>
          <a:xfrm>
            <a:off x="812782" y="6238242"/>
            <a:ext cx="719455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CAD Design Similarity Search | Reference document</a:t>
            </a:r>
            <a:endParaRPr lang="en-US" sz="1200" dirty="0"/>
          </a:p>
        </p:txBody>
      </p:sp>
      <p:sp>
        <p:nvSpPr>
          <p:cNvPr id="49" name="Text 44"/>
          <p:cNvSpPr/>
          <p:nvPr/>
        </p:nvSpPr>
        <p:spPr>
          <a:xfrm>
            <a:off x="9233862" y="6238242"/>
            <a:ext cx="2145265"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79"/>
                </a:solidFill>
                <a:latin typeface="Arial" pitchFamily="34" charset="0"/>
                <a:ea typeface="Arial" pitchFamily="34" charset="-122"/>
                <a:cs typeface="Arial" pitchFamily="34" charset="-120"/>
              </a:rPr>
              <a:t>MAINTENANCE</a:t>
            </a:r>
            <a:endParaRPr lang="en-US" sz="1200" dirty="0"/>
          </a:p>
        </p:txBody>
      </p:sp>
      <p:sp>
        <p:nvSpPr>
          <p:cNvPr id="3" name="Text 1"/>
          <p:cNvSpPr/>
          <p:nvPr>
            <p:ph type="title"/>
          </p:nvPr>
        </p:nvSpPr>
        <p:spPr>
          <a:xfrm>
            <a:off x="812782" y="1089692"/>
            <a:ext cx="10883429" cy="41650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430"/>
                </a:solidFill>
                <a:latin typeface="Georgia" pitchFamily="18" charset="0"/>
                <a:ea typeface="Georgia" pitchFamily="18" charset="-122"/>
                <a:cs typeface="Georgia" pitchFamily="18" charset="-120"/>
              </a:rPr>
              <a:t>Modifications to third-party libraries</a:t>
            </a:r>
            <a:endParaRPr lang="en-US" sz="2800" dirty="0"/>
          </a:p>
        </p:txBody>
      </p:sp>
      <p:sp>
        <p:nvSpPr>
          <p:cNvPr id="4" name="Text 2"/>
          <p:cNvSpPr/>
          <p:nvPr/>
        </p:nvSpPr>
        <p:spPr>
          <a:xfrm>
            <a:off x="812782" y="1683922"/>
            <a:ext cx="10883429" cy="48757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430"/>
                </a:solidFill>
                <a:latin typeface="Arial" pitchFamily="34" charset="0"/>
                <a:ea typeface="Arial" pitchFamily="34" charset="-122"/>
                <a:cs typeface="Arial" pitchFamily="34" charset="-120"/>
              </a:rPr>
              <a:t>The environment file shipped with BRepNet targets Python 3.7, PyTorch 1.7.1 and PyTorch Lightning 1.5.10. The changes below to the vendored copy in external/BRepNet allow it to run on Python 3.10, PyTorch 2.14.0 and PyTorch Lightning 2.6.5.</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327" y="2360774"/>
          <a:ext cx="10554890" cy="3292800"/>
        </p:xfrm>
        <a:graphic>
          <a:graphicData uri="http://schemas.openxmlformats.org/drawingml/2006/table">
            <a:tbl>
              <a:tblPr/>
              <a:tblGrid>
                <a:gridCol w="3588663"/>
                <a:gridCol w="6966228"/>
              </a:tblGrid>
              <a:tr h="331571">
                <a:tc>
                  <a:txBody>
                    <a:bodyPr/>
                    <a:lstStyle/>
                    <a:p>
                      <a:pPr indent="0" marL="0">
                        <a:lnSpc>
                          <a:spcPts val="1680"/>
                        </a:lnSpc>
                        <a:buNone/>
                      </a:pPr>
                      <a:r>
                        <a:rPr lang="en-US" sz="1200" b="1" dirty="0">
                          <a:solidFill>
                            <a:srgbClr val="1B2430"/>
                          </a:solidFill>
                          <a:latin typeface="Arial" pitchFamily="34" charset="0"/>
                          <a:ea typeface="Arial" pitchFamily="34" charset="-122"/>
                          <a:cs typeface="Arial" pitchFamily="34" charset="-120"/>
                        </a:rPr>
                        <a:t>File or component</a:t>
                      </a:r>
                      <a:endParaRPr lang="en-US" sz="1200" dirty="0">
                        <a:latin typeface="Arial" charset="0"/>
                        <a:ea typeface="Arial" charset="0"/>
                        <a:cs typeface="Arial"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B6B5AD"/>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6B5AD"/>
                      </a:solidFill>
                      <a:prstDash val="solid"/>
                      <a:round/>
                      <a:headEnd type="none" w="med" len="med"/>
                      <a:tailEnd type="none" w="med" len="med"/>
                    </a:lnB>
                    <a:solidFill>
                      <a:srgbClr val="E4E2D8"/>
                    </a:solidFill>
                  </a:tcPr>
                </a:tc>
                <a:tc>
                  <a:txBody>
                    <a:bodyPr/>
                    <a:lstStyle/>
                    <a:p>
                      <a:pPr indent="0" marL="0">
                        <a:lnSpc>
                          <a:spcPts val="1680"/>
                        </a:lnSpc>
                        <a:buNone/>
                      </a:pPr>
                      <a:r>
                        <a:rPr lang="en-US" sz="1200" b="1" dirty="0">
                          <a:solidFill>
                            <a:srgbClr val="1B2430"/>
                          </a:solidFill>
                          <a:latin typeface="Arial" pitchFamily="34" charset="0"/>
                          <a:ea typeface="Arial" pitchFamily="34" charset="-122"/>
                          <a:cs typeface="Arial" pitchFamily="34" charset="-120"/>
                        </a:rPr>
                        <a:t>Change and reason</a:t>
                      </a:r>
                      <a:endParaRPr lang="en-US" sz="1200" dirty="0">
                        <a:latin typeface="Arial" charset="0"/>
                        <a:ea typeface="Arial" charset="0"/>
                        <a:cs typeface="Arial" charset="0"/>
                      </a:endParaRPr>
                    </a:p>
                  </a:txBody>
                  <a:tcPr marL="53340" marR="53340" marT="53340" marB="53340" anchor="t">
                    <a:lnL w="12700" cap="flat" cmpd="sng" algn="ctr">
                      <a:solidFill>
                        <a:srgbClr val="B6B5AD"/>
                      </a:solidFill>
                      <a:prstDash val="solid"/>
                      <a:round/>
                      <a:headEnd type="none" w="med" len="med"/>
                      <a:tailEnd type="none" w="med" len="med"/>
                    </a:lnL>
                    <a:lnR w="12700" cap="flat" cmpd="sng" algn="ctr">
                      <a:solidFill>
                        <a:srgbClr val="B6B5AD"/>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6B5AD"/>
                      </a:solidFill>
                      <a:prstDash val="solid"/>
                      <a:round/>
                      <a:headEnd type="none" w="med" len="med"/>
                      <a:tailEnd type="none" w="med" len="med"/>
                    </a:lnB>
                    <a:solidFill>
                      <a:srgbClr val="E4E2D8"/>
                    </a:solidFill>
                  </a:tcPr>
                </a:tc>
              </a:tr>
              <a:tr h="331571">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models/brepnet.py</a:t>
                      </a:r>
                      <a:endParaRPr lang="en-US" sz="1200" dirty="0">
                        <a:latin typeface="Arial" charset="0"/>
                        <a:ea typeface="Arial" charset="0"/>
                        <a:cs typeface="Arial"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6B5AD"/>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LightningModule import path updated for current PyTorch Lightning.</a:t>
                      </a:r>
                      <a:endParaRPr lang="en-US" sz="1200" dirty="0">
                        <a:latin typeface="Arial" charset="0"/>
                        <a:ea typeface="Arial" charset="0"/>
                        <a:cs typeface="Arial"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6B5AD"/>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31571">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models/brepnet.py</a:t>
                      </a:r>
                      <a:endParaRPr lang="en-US" sz="1200" dirty="0">
                        <a:latin typeface="Arial" charset="0"/>
                        <a:ea typeface="Arial" charset="0"/>
                        <a:cs typeface="Arial"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test_epoch_end migrated to on_test_epoch_end(), as the old hook was removed.</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31571">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eval/evaluate_folder.py</a:t>
                      </a:r>
                      <a:endParaRPr lang="en-US" sz="1200" dirty="0">
                        <a:latin typeface="Arial" charset="0"/>
                        <a:ea typeface="Arial" charset="0"/>
                        <a:cs typeface="Arial"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Argparse-based Trainer setup replaced with Trainer(accelerator="cpu", logger=False).</a:t>
                      </a:r>
                      <a:endParaRPr lang="en-US" sz="1200" dirty="0">
                        <a:latin typeface="Arial" charset="0"/>
                        <a:ea typeface="Arial" charset="0"/>
                        <a:cs typeface="Arial"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4982">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Checkpoint loading</a:t>
                      </a:r>
                      <a:endParaRPr lang="en-US" sz="1200" dirty="0">
                        <a:latin typeface="Arial" charset="0"/>
                        <a:ea typeface="Arial" charset="0"/>
                        <a:cs typeface="Arial"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torch.load patched with weights_only=False, since newer PyTorch defaults to weights-only loading. The pretrained checkpoint is trusted.</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31571">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pipeline/extract_brepnet_data_from_step.py</a:t>
                      </a:r>
                      <a:endParaRPr lang="en-US" sz="1200" dirty="0">
                        <a:latin typeface="Arial" charset="0"/>
                        <a:ea typeface="Arial" charset="0"/>
                        <a:cs typeface="Arial"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Per-file try/except added, so one unreadable STEP file no longer stops a batch run.</a:t>
                      </a:r>
                      <a:endParaRPr lang="en-US" sz="1200" dirty="0">
                        <a:latin typeface="Arial" charset="0"/>
                        <a:ea typeface="Arial" charset="0"/>
                        <a:cs typeface="Arial"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544982">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run_batch_embeddings.py (new)</a:t>
                      </a:r>
                      <a:endParaRPr lang="en-US" sz="1200" dirty="0">
                        <a:latin typeface="Arial" charset="0"/>
                        <a:ea typeface="Arial" charset="0"/>
                        <a:cs typeface="Arial"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Copies STEP files to a scratch folder, runs evaluate_folder, mean-pools per-face embeddings and writes embeddings.npy and embeddings_manifest.json.</a:t>
                      </a:r>
                      <a:endParaRPr lang="en-US" sz="1200" dirty="0">
                        <a:latin typeface="Arial" charset="0"/>
                        <a:ea typeface="Arial" charset="0"/>
                        <a:cs typeface="Arial"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544982">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occwl dependency</a:t>
                      </a:r>
                      <a:endParaRPr lang="en-US" sz="1200" dirty="0">
                        <a:latin typeface="Arial" charset="0"/>
                        <a:ea typeface="Arial" charset="0"/>
                        <a:cs typeface="Arial"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680"/>
                        </a:lnSpc>
                        <a:buNone/>
                      </a:pPr>
                      <a:r>
                        <a:rPr lang="en-US" sz="1200" dirty="0">
                          <a:solidFill>
                            <a:srgbClr val="1B2430"/>
                          </a:solidFill>
                          <a:latin typeface="Arial" pitchFamily="34" charset="0"/>
                          <a:ea typeface="Arial" pitchFamily="34" charset="-122"/>
                          <a:cs typeface="Arial" pitchFamily="34" charset="-120"/>
                        </a:rPr>
                        <a:t>Internal submodule reference (git.autodesk.com) replaced by public occwl 3.0.0 built from source (not on PyPI). pyDeprecate (pip) and igl (conda-forge) added.</a:t>
                      </a:r>
                      <a:endParaRPr lang="en-US" sz="1200" dirty="0">
                        <a:latin typeface="Arial" charset="0"/>
                        <a:ea typeface="Arial" charset="0"/>
                        <a:cs typeface="Arial" charset="0"/>
                      </a:endParaRPr>
                    </a:p>
                  </a:txBody>
                  <a:tcPr marL="53340" marR="53340" marT="53340" marB="53340"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6" name="Text 3"/>
          <p:cNvSpPr/>
          <p:nvPr/>
        </p:nvSpPr>
        <p:spPr>
          <a:xfrm>
            <a:off x="812782" y="6238242"/>
            <a:ext cx="719455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CAD Design Similarity Search | Reference document</a:t>
            </a:r>
            <a:endParaRPr lang="en-US" sz="1200" dirty="0"/>
          </a:p>
        </p:txBody>
      </p:sp>
      <p:sp>
        <p:nvSpPr>
          <p:cNvPr id="7" name="Text 4"/>
          <p:cNvSpPr/>
          <p:nvPr/>
        </p:nvSpPr>
        <p:spPr>
          <a:xfrm>
            <a:off x="9233862" y="6238242"/>
            <a:ext cx="2145265"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79"/>
                </a:solidFill>
                <a:latin typeface="Arial" pitchFamily="34" charset="0"/>
                <a:ea typeface="Arial" pitchFamily="34" charset="-122"/>
                <a:cs typeface="Arial" pitchFamily="34" charset="-120"/>
              </a:rPr>
              <a:t>RESULTS</a:t>
            </a:r>
            <a:endParaRPr lang="en-US" sz="1200" dirty="0"/>
          </a:p>
        </p:txBody>
      </p:sp>
      <p:sp>
        <p:nvSpPr>
          <p:cNvPr id="3" name="Text 1"/>
          <p:cNvSpPr/>
          <p:nvPr>
            <p:ph type="title"/>
          </p:nvPr>
        </p:nvSpPr>
        <p:spPr>
          <a:xfrm>
            <a:off x="812782" y="1089692"/>
            <a:ext cx="10883429" cy="41650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430"/>
                </a:solidFill>
                <a:latin typeface="Georgia" pitchFamily="18" charset="0"/>
                <a:ea typeface="Georgia" pitchFamily="18" charset="-122"/>
                <a:cs typeface="Georgia" pitchFamily="18" charset="-120"/>
              </a:rPr>
              <a:t>Retrieval results</a:t>
            </a:r>
            <a:endParaRPr lang="en-US" sz="2800" dirty="0"/>
          </a:p>
        </p:txBody>
      </p:sp>
      <p:sp>
        <p:nvSpPr>
          <p:cNvPr id="4" name="Text 2"/>
          <p:cNvSpPr/>
          <p:nvPr/>
        </p:nvSpPr>
        <p:spPr>
          <a:xfrm>
            <a:off x="812782" y="1683922"/>
            <a:ext cx="10883429" cy="256489"/>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2430"/>
                </a:solidFill>
                <a:latin typeface="Arial" pitchFamily="34" charset="0"/>
                <a:ea typeface="Arial" pitchFamily="34" charset="-122"/>
                <a:cs typeface="Arial" pitchFamily="34" charset="-120"/>
              </a:rPr>
              <a:t>Query:</a:t>
            </a:r>
            <a:r>
              <a:rPr lang="en-US" sz="1300" dirty="0">
                <a:solidFill>
                  <a:srgbClr val="1B2430"/>
                </a:solidFill>
                <a:latin typeface="Arial" pitchFamily="34" charset="0"/>
                <a:ea typeface="Arial" pitchFamily="34" charset="-122"/>
                <a:cs typeface="Arial" pitchFamily="34" charset="-120"/>
              </a:rPr>
              <a:t> 100243_9fb796fe_0006 | 130 × 19 × 19 mm | 6 faces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327" y="2028120"/>
          <a:ext cx="10554890" cy="2148537"/>
        </p:xfrm>
        <a:graphic>
          <a:graphicData uri="http://schemas.openxmlformats.org/drawingml/2006/table">
            <a:tbl>
              <a:tblPr/>
              <a:tblGrid>
                <a:gridCol w="1688782"/>
                <a:gridCol w="5699641"/>
                <a:gridCol w="3166467"/>
              </a:tblGrid>
              <a:tr h="358089">
                <a:tc>
                  <a:txBody>
                    <a:bodyPr/>
                    <a:lstStyle/>
                    <a:p>
                      <a:pPr indent="0" marL="0">
                        <a:lnSpc>
                          <a:spcPts val="1820"/>
                        </a:lnSpc>
                        <a:buNone/>
                      </a:pPr>
                      <a:r>
                        <a:rPr lang="en-US" sz="1300" b="1" dirty="0">
                          <a:solidFill>
                            <a:srgbClr val="1B2430"/>
                          </a:solidFill>
                          <a:latin typeface="Arial" pitchFamily="34" charset="0"/>
                          <a:ea typeface="Arial" pitchFamily="34" charset="-122"/>
                          <a:cs typeface="Arial" pitchFamily="34" charset="-120"/>
                        </a:rPr>
                        <a:t>Rank</a:t>
                      </a:r>
                      <a:endParaRPr lang="en-US" sz="1300" dirty="0">
                        <a:latin typeface="Arial" charset="0"/>
                        <a:ea typeface="Arial" charset="0"/>
                        <a:cs typeface="Arial"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B6B5AD"/>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6B5AD"/>
                      </a:solidFill>
                      <a:prstDash val="solid"/>
                      <a:round/>
                      <a:headEnd type="none" w="med" len="med"/>
                      <a:tailEnd type="none" w="med" len="med"/>
                    </a:lnB>
                    <a:solidFill>
                      <a:srgbClr val="E4E2D8"/>
                    </a:solidFill>
                  </a:tcPr>
                </a:tc>
                <a:tc>
                  <a:txBody>
                    <a:bodyPr/>
                    <a:lstStyle/>
                    <a:p>
                      <a:pPr indent="0" marL="0">
                        <a:lnSpc>
                          <a:spcPts val="1820"/>
                        </a:lnSpc>
                        <a:buNone/>
                      </a:pPr>
                      <a:r>
                        <a:rPr lang="en-US" sz="1300" b="1" dirty="0">
                          <a:solidFill>
                            <a:srgbClr val="1B2430"/>
                          </a:solidFill>
                          <a:latin typeface="Arial" pitchFamily="34" charset="0"/>
                          <a:ea typeface="Arial" pitchFamily="34" charset="-122"/>
                          <a:cs typeface="Arial" pitchFamily="34" charset="-120"/>
                        </a:rPr>
                        <a:t>Design ID</a:t>
                      </a:r>
                      <a:endParaRPr lang="en-US" sz="1300" dirty="0">
                        <a:latin typeface="Arial" charset="0"/>
                        <a:ea typeface="Arial" charset="0"/>
                        <a:cs typeface="Arial" charset="0"/>
                      </a:endParaRPr>
                    </a:p>
                  </a:txBody>
                  <a:tcPr marL="57785" marR="57785" marT="57785" marB="57785" anchor="t">
                    <a:lnL w="12700" cap="flat" cmpd="sng" algn="ctr">
                      <a:solidFill>
                        <a:srgbClr val="B6B5AD"/>
                      </a:solidFill>
                      <a:prstDash val="solid"/>
                      <a:round/>
                      <a:headEnd type="none" w="med" len="med"/>
                      <a:tailEnd type="none" w="med" len="med"/>
                    </a:lnL>
                    <a:lnR w="12700" cap="flat" cmpd="sng" algn="ctr">
                      <a:solidFill>
                        <a:srgbClr val="B6B5AD"/>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6B5AD"/>
                      </a:solidFill>
                      <a:prstDash val="solid"/>
                      <a:round/>
                      <a:headEnd type="none" w="med" len="med"/>
                      <a:tailEnd type="none" w="med" len="med"/>
                    </a:lnB>
                    <a:solidFill>
                      <a:srgbClr val="E4E2D8"/>
                    </a:solidFill>
                  </a:tcPr>
                </a:tc>
                <a:tc>
                  <a:txBody>
                    <a:bodyPr/>
                    <a:lstStyle/>
                    <a:p>
                      <a:pPr algn="r" indent="0" marL="0">
                        <a:lnSpc>
                          <a:spcPts val="1820"/>
                        </a:lnSpc>
                        <a:buNone/>
                      </a:pPr>
                      <a:r>
                        <a:rPr lang="en-US" sz="1300" b="1" dirty="0">
                          <a:solidFill>
                            <a:srgbClr val="1B2430"/>
                          </a:solidFill>
                          <a:latin typeface="Arial" pitchFamily="34" charset="0"/>
                          <a:ea typeface="Arial" pitchFamily="34" charset="-122"/>
                          <a:cs typeface="Arial" pitchFamily="34" charset="-120"/>
                        </a:rPr>
                        <a:t>Squared L2</a:t>
                      </a:r>
                      <a:endParaRPr lang="en-US" sz="1300" dirty="0">
                        <a:latin typeface="Arial" charset="0"/>
                        <a:ea typeface="Arial" charset="0"/>
                        <a:cs typeface="Arial" charset="0"/>
                      </a:endParaRPr>
                    </a:p>
                  </a:txBody>
                  <a:tcPr marL="57785" marR="57785" marT="57785" marB="57785" anchor="t">
                    <a:lnL w="12700" cap="flat" cmpd="sng" algn="ctr">
                      <a:solidFill>
                        <a:srgbClr val="B6B5AD"/>
                      </a:solidFill>
                      <a:prstDash val="solid"/>
                      <a:round/>
                      <a:headEnd type="none" w="med" len="med"/>
                      <a:tailEnd type="none" w="med" len="med"/>
                    </a:lnL>
                    <a:lnR w="12700" cap="flat" cmpd="sng" algn="ctr">
                      <a:solidFill>
                        <a:srgbClr val="B6B5AD"/>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6B5AD"/>
                      </a:solidFill>
                      <a:prstDash val="solid"/>
                      <a:round/>
                      <a:headEnd type="none" w="med" len="med"/>
                      <a:tailEnd type="none" w="med" len="med"/>
                    </a:lnB>
                    <a:solidFill>
                      <a:srgbClr val="E4E2D8"/>
                    </a:solidFill>
                  </a:tcPr>
                </a:tc>
              </a:tr>
              <a:tr h="358089">
                <a:tc>
                  <a:txBody>
                    <a:bodyPr/>
                    <a:lstStyle/>
                    <a:p>
                      <a:pPr indent="0" marL="0">
                        <a:lnSpc>
                          <a:spcPts val="1820"/>
                        </a:lnSpc>
                        <a:buNone/>
                      </a:pPr>
                      <a:r>
                        <a:rPr lang="en-US" sz="1300" dirty="0">
                          <a:solidFill>
                            <a:srgbClr val="1B2430"/>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6B5AD"/>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Arial" pitchFamily="34" charset="0"/>
                          <a:ea typeface="Arial" pitchFamily="34" charset="-122"/>
                          <a:cs typeface="Arial" pitchFamily="34" charset="-120"/>
                        </a:rPr>
                        <a:t>37267_b2be4b50_0033</a:t>
                      </a:r>
                      <a:endParaRPr lang="en-US" sz="1300" dirty="0">
                        <a:latin typeface="Arial" charset="0"/>
                        <a:ea typeface="Arial" charset="0"/>
                        <a:cs typeface="Arial"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6B5AD"/>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Arial" pitchFamily="34" charset="0"/>
                          <a:ea typeface="Arial" pitchFamily="34" charset="-122"/>
                          <a:cs typeface="Arial" pitchFamily="34" charset="-120"/>
                        </a:rPr>
                        <a:t>0.0397</a:t>
                      </a:r>
                      <a:endParaRPr lang="en-US" sz="1300" dirty="0">
                        <a:latin typeface="Arial" charset="0"/>
                        <a:ea typeface="Arial" charset="0"/>
                        <a:cs typeface="Arial"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6B5AD"/>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8089">
                <a:tc>
                  <a:txBody>
                    <a:bodyPr/>
                    <a:lstStyle/>
                    <a:p>
                      <a:pPr indent="0" marL="0">
                        <a:lnSpc>
                          <a:spcPts val="1820"/>
                        </a:lnSpc>
                        <a:buNone/>
                      </a:pPr>
                      <a:r>
                        <a:rPr lang="en-US" sz="1300" dirty="0">
                          <a:solidFill>
                            <a:srgbClr val="1B2430"/>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820"/>
                        </a:lnSpc>
                        <a:buNone/>
                      </a:pPr>
                      <a:r>
                        <a:rPr lang="en-US" sz="1300" dirty="0">
                          <a:solidFill>
                            <a:srgbClr val="1B2430"/>
                          </a:solidFill>
                          <a:latin typeface="Arial" pitchFamily="34" charset="0"/>
                          <a:ea typeface="Arial" pitchFamily="34" charset="-122"/>
                          <a:cs typeface="Arial" pitchFamily="34" charset="-120"/>
                        </a:rPr>
                        <a:t>33628_296ae2b8_0001</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algn="r" indent="0" marL="0">
                        <a:lnSpc>
                          <a:spcPts val="1820"/>
                        </a:lnSpc>
                        <a:buNone/>
                      </a:pPr>
                      <a:r>
                        <a:rPr lang="en-US" sz="1300" dirty="0">
                          <a:solidFill>
                            <a:srgbClr val="1B2430"/>
                          </a:solidFill>
                          <a:latin typeface="Arial" pitchFamily="34" charset="0"/>
                          <a:ea typeface="Arial" pitchFamily="34" charset="-122"/>
                          <a:cs typeface="Arial" pitchFamily="34" charset="-120"/>
                        </a:rPr>
                        <a:t>0.0630</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58089">
                <a:tc>
                  <a:txBody>
                    <a:bodyPr/>
                    <a:lstStyle/>
                    <a:p>
                      <a:pPr indent="0" marL="0">
                        <a:lnSpc>
                          <a:spcPts val="1820"/>
                        </a:lnSpc>
                        <a:buNone/>
                      </a:pPr>
                      <a:r>
                        <a:rPr lang="en-US" sz="1300" dirty="0">
                          <a:solidFill>
                            <a:srgbClr val="1B2430"/>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Arial" pitchFamily="34" charset="0"/>
                          <a:ea typeface="Arial" pitchFamily="34" charset="-122"/>
                          <a:cs typeface="Arial" pitchFamily="34" charset="-120"/>
                        </a:rPr>
                        <a:t>37995_1cc61263_0005</a:t>
                      </a:r>
                      <a:endParaRPr lang="en-US" sz="1300" dirty="0">
                        <a:latin typeface="Arial" charset="0"/>
                        <a:ea typeface="Arial" charset="0"/>
                        <a:cs typeface="Arial"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Arial" pitchFamily="34" charset="0"/>
                          <a:ea typeface="Arial" pitchFamily="34" charset="-122"/>
                          <a:cs typeface="Arial" pitchFamily="34" charset="-120"/>
                        </a:rPr>
                        <a:t>0.1063</a:t>
                      </a:r>
                      <a:endParaRPr lang="en-US" sz="1300" dirty="0">
                        <a:latin typeface="Arial" charset="0"/>
                        <a:ea typeface="Arial" charset="0"/>
                        <a:cs typeface="Arial"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r h="358089">
                <a:tc>
                  <a:txBody>
                    <a:bodyPr/>
                    <a:lstStyle/>
                    <a:p>
                      <a:pPr indent="0" marL="0">
                        <a:lnSpc>
                          <a:spcPts val="1820"/>
                        </a:lnSpc>
                        <a:buNone/>
                      </a:pPr>
                      <a:r>
                        <a:rPr lang="en-US" sz="1300" dirty="0">
                          <a:solidFill>
                            <a:srgbClr val="1B2430"/>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indent="0" marL="0">
                        <a:lnSpc>
                          <a:spcPts val="1820"/>
                        </a:lnSpc>
                        <a:buNone/>
                      </a:pPr>
                      <a:r>
                        <a:rPr lang="en-US" sz="1300" dirty="0">
                          <a:solidFill>
                            <a:srgbClr val="1B2430"/>
                          </a:solidFill>
                          <a:latin typeface="Arial" pitchFamily="34" charset="0"/>
                          <a:ea typeface="Arial" pitchFamily="34" charset="-122"/>
                          <a:cs typeface="Arial" pitchFamily="34" charset="-120"/>
                        </a:rPr>
                        <a:t>105278_909f3813_0000</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algn="r" indent="0" marL="0">
                        <a:lnSpc>
                          <a:spcPts val="1820"/>
                        </a:lnSpc>
                        <a:buNone/>
                      </a:pPr>
                      <a:r>
                        <a:rPr lang="en-US" sz="1300" dirty="0">
                          <a:solidFill>
                            <a:srgbClr val="1B2430"/>
                          </a:solidFill>
                          <a:latin typeface="Arial" pitchFamily="34" charset="0"/>
                          <a:ea typeface="Arial" pitchFamily="34" charset="-122"/>
                          <a:cs typeface="Arial" pitchFamily="34" charset="-120"/>
                        </a:rPr>
                        <a:t>0.2123</a:t>
                      </a:r>
                      <a:endParaRPr lang="en-US" sz="1300" dirty="0">
                        <a:latin typeface="Arial" charset="0"/>
                        <a:ea typeface="Arial" charset="0"/>
                        <a:cs typeface="Arial"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r>
              <a:tr h="358089">
                <a:tc>
                  <a:txBody>
                    <a:bodyPr/>
                    <a:lstStyle/>
                    <a:p>
                      <a:pPr indent="0" marL="0">
                        <a:lnSpc>
                          <a:spcPts val="1820"/>
                        </a:lnSpc>
                        <a:buNone/>
                      </a:pPr>
                      <a:r>
                        <a:rPr lang="en-US" sz="1300" dirty="0">
                          <a:solidFill>
                            <a:srgbClr val="1B2430"/>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indent="0" marL="0">
                        <a:lnSpc>
                          <a:spcPts val="1820"/>
                        </a:lnSpc>
                        <a:buNone/>
                      </a:pPr>
                      <a:r>
                        <a:rPr lang="en-US" sz="1300" dirty="0">
                          <a:solidFill>
                            <a:srgbClr val="1B2430"/>
                          </a:solidFill>
                          <a:latin typeface="Arial" pitchFamily="34" charset="0"/>
                          <a:ea typeface="Arial" pitchFamily="34" charset="-122"/>
                          <a:cs typeface="Arial" pitchFamily="34" charset="-120"/>
                        </a:rPr>
                        <a:t>86381_dcef1ea4_0000</a:t>
                      </a:r>
                      <a:endParaRPr lang="en-US" sz="1300" dirty="0">
                        <a:latin typeface="Arial" charset="0"/>
                        <a:ea typeface="Arial" charset="0"/>
                        <a:cs typeface="Arial"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algn="r" indent="0" marL="0">
                        <a:lnSpc>
                          <a:spcPts val="1820"/>
                        </a:lnSpc>
                        <a:buNone/>
                      </a:pPr>
                      <a:r>
                        <a:rPr lang="en-US" sz="1300" dirty="0">
                          <a:solidFill>
                            <a:srgbClr val="1B2430"/>
                          </a:solidFill>
                          <a:latin typeface="Arial" pitchFamily="34" charset="0"/>
                          <a:ea typeface="Arial" pitchFamily="34" charset="-122"/>
                          <a:cs typeface="Arial" pitchFamily="34" charset="-120"/>
                        </a:rPr>
                        <a:t>0.2308</a:t>
                      </a:r>
                      <a:endParaRPr lang="en-US" sz="1300" dirty="0">
                        <a:latin typeface="Arial" charset="0"/>
                        <a:ea typeface="Arial" charset="0"/>
                        <a:cs typeface="Arial" charset="0"/>
                      </a:endParaRPr>
                    </a:p>
                  </a:txBody>
                  <a:tcPr marL="57785" marR="57785" marT="57785" marB="57785" anchor="t">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r>
            </a:tbl>
          </a:graphicData>
        </a:graphic>
      </p:graphicFrame>
      <p:sp>
        <p:nvSpPr>
          <p:cNvPr id="6" name="Text 3"/>
          <p:cNvSpPr/>
          <p:nvPr/>
        </p:nvSpPr>
        <p:spPr>
          <a:xfrm>
            <a:off x="812782" y="4278223"/>
            <a:ext cx="11379218"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Rank 1 is a thick bar (1100 × 75 × 75 mm) matched to a thin column: feature composition is similar, size is not. Smaller distance indicates a closer match.</a:t>
            </a:r>
            <a:endParaRPr lang="en-US" sz="1200" dirty="0"/>
          </a:p>
        </p:txBody>
      </p:sp>
      <p:sp>
        <p:nvSpPr>
          <p:cNvPr id="7" name="Text 4"/>
          <p:cNvSpPr/>
          <p:nvPr/>
        </p:nvSpPr>
        <p:spPr>
          <a:xfrm>
            <a:off x="812782" y="4694758"/>
            <a:ext cx="10566436" cy="731513"/>
          </a:xfrm>
          <a:prstGeom prst="roundRect">
            <a:avLst>
              <a:gd name="adj" fmla="val 5208"/>
            </a:avLst>
          </a:prstGeom>
          <a:solidFill>
            <a:srgbClr val="ECEBE4"/>
          </a:solidFill>
          <a:ln/>
        </p:spPr>
        <p:txBody>
          <a:bodyPr wrap="square" lIns="191969" tIns="141241" rIns="0" bIns="115733"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Validation.</a:t>
            </a:r>
            <a:r>
              <a:rPr lang="en-US" sz="1200" dirty="0">
                <a:solidFill>
                  <a:srgbClr val="1B2430"/>
                </a:solidFill>
                <a:latin typeface="Arial" pitchFamily="34" charset="0"/>
                <a:ea typeface="Arial" pitchFamily="34" charset="-122"/>
                <a:cs typeface="Arial" pitchFamily="34" charset="-120"/>
              </a:rPr>
              <a:t> Re-embedding parts already in the index reproduced the stored embedding rows within about 1e-7. Retrieval was also spot-checked visually: simple parts retrieve well, while complex parts are less consistent (see limitations).</a:t>
            </a:r>
            <a:endParaRPr lang="en-US" sz="1200" dirty="0"/>
          </a:p>
        </p:txBody>
      </p:sp>
      <p:sp>
        <p:nvSpPr>
          <p:cNvPr id="8" name="Text 5"/>
          <p:cNvSpPr/>
          <p:nvPr/>
        </p:nvSpPr>
        <p:spPr>
          <a:xfrm>
            <a:off x="812782" y="6238242"/>
            <a:ext cx="719455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CAD Design Similarity Search | Reference document</a:t>
            </a:r>
            <a:endParaRPr lang="en-US" sz="1200" dirty="0"/>
          </a:p>
        </p:txBody>
      </p:sp>
      <p:sp>
        <p:nvSpPr>
          <p:cNvPr id="9" name="Text 6"/>
          <p:cNvSpPr/>
          <p:nvPr/>
        </p:nvSpPr>
        <p:spPr>
          <a:xfrm>
            <a:off x="9233862" y="6238242"/>
            <a:ext cx="2145265"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79"/>
                </a:solidFill>
                <a:latin typeface="Arial" pitchFamily="34" charset="0"/>
                <a:ea typeface="Arial" pitchFamily="34" charset="-122"/>
                <a:cs typeface="Arial" pitchFamily="34" charset="-120"/>
              </a:rPr>
              <a:t>CAPABILITIES</a:t>
            </a:r>
            <a:endParaRPr lang="en-US" sz="1200" dirty="0"/>
          </a:p>
        </p:txBody>
      </p:sp>
      <p:sp>
        <p:nvSpPr>
          <p:cNvPr id="3" name="Text 1"/>
          <p:cNvSpPr/>
          <p:nvPr>
            <p:ph type="title"/>
          </p:nvPr>
        </p:nvSpPr>
        <p:spPr>
          <a:xfrm>
            <a:off x="812782" y="1089692"/>
            <a:ext cx="10883429" cy="41650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430"/>
                </a:solidFill>
                <a:latin typeface="Georgia" pitchFamily="18" charset="0"/>
                <a:ea typeface="Georgia" pitchFamily="18" charset="-122"/>
                <a:cs typeface="Georgia" pitchFamily="18" charset="-120"/>
              </a:rPr>
              <a:t>Capabilities beyond basic retrieval</a:t>
            </a:r>
            <a:endParaRPr lang="en-US" sz="2800" dirty="0"/>
          </a:p>
        </p:txBody>
      </p:sp>
      <p:sp>
        <p:nvSpPr>
          <p:cNvPr id="4" name="Shape 2"/>
          <p:cNvSpPr/>
          <p:nvPr/>
        </p:nvSpPr>
        <p:spPr>
          <a:xfrm>
            <a:off x="815957" y="1687097"/>
            <a:ext cx="5200650" cy="1585209"/>
          </a:xfrm>
          <a:prstGeom prst="roundRect">
            <a:avLst>
              <a:gd name="adj" fmla="val 3004"/>
            </a:avLst>
          </a:prstGeom>
          <a:solidFill>
            <a:srgbClr val="FDFCF9"/>
          </a:solidFill>
          <a:ln w="6350">
            <a:solidFill>
              <a:srgbClr val="D4D3CB"/>
            </a:solidFill>
            <a:prstDash val="solid"/>
          </a:ln>
        </p:spPr>
      </p:sp>
      <p:sp>
        <p:nvSpPr>
          <p:cNvPr id="5" name="Text 3"/>
          <p:cNvSpPr/>
          <p:nvPr/>
        </p:nvSpPr>
        <p:spPr>
          <a:xfrm>
            <a:off x="996337" y="1867477"/>
            <a:ext cx="4985087"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79"/>
                </a:solidFill>
                <a:latin typeface="Arial" pitchFamily="34" charset="0"/>
                <a:ea typeface="Arial" pitchFamily="34" charset="-122"/>
                <a:cs typeface="Arial" pitchFamily="34" charset="-120"/>
              </a:rPr>
              <a:t>part_properties.py</a:t>
            </a:r>
            <a:endParaRPr lang="en-US" sz="1200" dirty="0"/>
          </a:p>
        </p:txBody>
      </p:sp>
      <p:sp>
        <p:nvSpPr>
          <p:cNvPr id="6" name="Text 4"/>
          <p:cNvSpPr/>
          <p:nvPr/>
        </p:nvSpPr>
        <p:spPr>
          <a:xfrm>
            <a:off x="996337" y="2144387"/>
            <a:ext cx="4985087"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Part size properties</a:t>
            </a:r>
            <a:endParaRPr lang="en-US" sz="1600" dirty="0"/>
          </a:p>
        </p:txBody>
      </p:sp>
      <p:sp>
        <p:nvSpPr>
          <p:cNvPr id="7" name="Text 5"/>
          <p:cNvSpPr/>
          <p:nvPr/>
        </p:nvSpPr>
        <p:spPr>
          <a:xfrm>
            <a:off x="996337" y="2451695"/>
            <a:ext cx="4985087" cy="4522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rial" pitchFamily="34" charset="0"/>
                <a:ea typeface="Arial" pitchFamily="34" charset="-122"/>
                <a:cs typeface="Arial" pitchFamily="34" charset="-120"/>
              </a:rPr>
              <a:t>Bounding-box dimensions, volume, surface area and face count per part from occwl, stored in part_properties.csv.</a:t>
            </a:r>
            <a:endParaRPr lang="en-US" sz="1200" dirty="0"/>
          </a:p>
        </p:txBody>
      </p:sp>
      <p:sp>
        <p:nvSpPr>
          <p:cNvPr id="8" name="Shape 6"/>
          <p:cNvSpPr/>
          <p:nvPr/>
        </p:nvSpPr>
        <p:spPr>
          <a:xfrm>
            <a:off x="6175303" y="1687097"/>
            <a:ext cx="5200740" cy="1585209"/>
          </a:xfrm>
          <a:prstGeom prst="roundRect">
            <a:avLst>
              <a:gd name="adj" fmla="val 3004"/>
            </a:avLst>
          </a:prstGeom>
          <a:solidFill>
            <a:srgbClr val="FDFCF9"/>
          </a:solidFill>
          <a:ln w="6350">
            <a:solidFill>
              <a:srgbClr val="D4D3CB"/>
            </a:solidFill>
            <a:prstDash val="solid"/>
          </a:ln>
        </p:spPr>
      </p:sp>
      <p:sp>
        <p:nvSpPr>
          <p:cNvPr id="9" name="Text 7"/>
          <p:cNvSpPr/>
          <p:nvPr/>
        </p:nvSpPr>
        <p:spPr>
          <a:xfrm>
            <a:off x="6355682" y="1867477"/>
            <a:ext cx="4985180"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79"/>
                </a:solidFill>
                <a:latin typeface="Arial" pitchFamily="34" charset="0"/>
                <a:ea typeface="Arial" pitchFamily="34" charset="-122"/>
                <a:cs typeface="Arial" pitchFamily="34" charset="-120"/>
              </a:rPr>
              <a:t>filtered_search.py</a:t>
            </a:r>
            <a:endParaRPr lang="en-US" sz="1200" dirty="0"/>
          </a:p>
        </p:txBody>
      </p:sp>
      <p:sp>
        <p:nvSpPr>
          <p:cNvPr id="10" name="Text 8"/>
          <p:cNvSpPr/>
          <p:nvPr/>
        </p:nvSpPr>
        <p:spPr>
          <a:xfrm>
            <a:off x="6355682" y="2144387"/>
            <a:ext cx="4985180"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Optional size filter</a:t>
            </a:r>
            <a:endParaRPr lang="en-US" sz="1600" dirty="0"/>
          </a:p>
        </p:txBody>
      </p:sp>
      <p:sp>
        <p:nvSpPr>
          <p:cNvPr id="11" name="Text 9"/>
          <p:cNvSpPr/>
          <p:nvPr/>
        </p:nvSpPr>
        <p:spPr>
          <a:xfrm>
            <a:off x="6355682" y="2451695"/>
            <a:ext cx="4985180" cy="6656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rial" pitchFamily="34" charset="0"/>
                <a:ea typeface="Arial" pitchFamily="34" charset="-122"/>
                <a:cs typeface="Arial" pitchFamily="34" charset="-120"/>
              </a:rPr>
              <a:t>Sorted bounding-box dimensions must fall within a tolerance of the query (default ±20%). All 500 designs are searched, then survivors are ranked.</a:t>
            </a:r>
            <a:endParaRPr lang="en-US" sz="1200" dirty="0"/>
          </a:p>
        </p:txBody>
      </p:sp>
      <p:sp>
        <p:nvSpPr>
          <p:cNvPr id="12" name="Shape 10"/>
          <p:cNvSpPr/>
          <p:nvPr/>
        </p:nvSpPr>
        <p:spPr>
          <a:xfrm>
            <a:off x="815957" y="3431000"/>
            <a:ext cx="5200650" cy="1585209"/>
          </a:xfrm>
          <a:prstGeom prst="roundRect">
            <a:avLst>
              <a:gd name="adj" fmla="val 3004"/>
            </a:avLst>
          </a:prstGeom>
          <a:solidFill>
            <a:srgbClr val="FDFCF9"/>
          </a:solidFill>
          <a:ln w="6350">
            <a:solidFill>
              <a:srgbClr val="D4D3CB"/>
            </a:solidFill>
            <a:prstDash val="solid"/>
          </a:ln>
        </p:spPr>
      </p:sp>
      <p:sp>
        <p:nvSpPr>
          <p:cNvPr id="13" name="Text 11"/>
          <p:cNvSpPr/>
          <p:nvPr/>
        </p:nvSpPr>
        <p:spPr>
          <a:xfrm>
            <a:off x="996337" y="3611380"/>
            <a:ext cx="4985087"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79"/>
                </a:solidFill>
                <a:latin typeface="Arial" pitchFamily="34" charset="0"/>
                <a:ea typeface="Arial" pitchFamily="34" charset="-122"/>
                <a:cs typeface="Arial" pitchFamily="34" charset="-120"/>
              </a:rPr>
              <a:t>search_new_part.py</a:t>
            </a:r>
            <a:endParaRPr lang="en-US" sz="1200" dirty="0"/>
          </a:p>
        </p:txBody>
      </p:sp>
      <p:sp>
        <p:nvSpPr>
          <p:cNvPr id="14" name="Text 12"/>
          <p:cNvSpPr/>
          <p:nvPr/>
        </p:nvSpPr>
        <p:spPr>
          <a:xfrm>
            <a:off x="996337" y="3888290"/>
            <a:ext cx="4985087"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New-part search</a:t>
            </a:r>
            <a:endParaRPr lang="en-US" sz="1600" dirty="0"/>
          </a:p>
        </p:txBody>
      </p:sp>
      <p:sp>
        <p:nvSpPr>
          <p:cNvPr id="15" name="Text 13"/>
          <p:cNvSpPr/>
          <p:nvPr/>
        </p:nvSpPr>
        <p:spPr>
          <a:xfrm>
            <a:off x="996337" y="4195598"/>
            <a:ext cx="4985087" cy="66563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rial" pitchFamily="34" charset="0"/>
                <a:ea typeface="Arial" pitchFamily="34" charset="-122"/>
                <a:cs typeface="Arial" pitchFamily="34" charset="-120"/>
              </a:rPr>
              <a:t>An uploaded STEP file is embedded through the same pipeline and searched against the index. Test part: 24 × 24 × 4.5 mm, top distances 0.2087 to 0.4556.</a:t>
            </a:r>
            <a:endParaRPr lang="en-US" sz="1200" dirty="0"/>
          </a:p>
        </p:txBody>
      </p:sp>
      <p:sp>
        <p:nvSpPr>
          <p:cNvPr id="16" name="Shape 14"/>
          <p:cNvSpPr/>
          <p:nvPr/>
        </p:nvSpPr>
        <p:spPr>
          <a:xfrm>
            <a:off x="6175303" y="3431000"/>
            <a:ext cx="5200740" cy="1585209"/>
          </a:xfrm>
          <a:prstGeom prst="roundRect">
            <a:avLst>
              <a:gd name="adj" fmla="val 3004"/>
            </a:avLst>
          </a:prstGeom>
          <a:solidFill>
            <a:srgbClr val="FDFCF9"/>
          </a:solidFill>
          <a:ln w="6350">
            <a:solidFill>
              <a:srgbClr val="D4D3CB"/>
            </a:solidFill>
            <a:prstDash val="solid"/>
          </a:ln>
        </p:spPr>
      </p:sp>
      <p:sp>
        <p:nvSpPr>
          <p:cNvPr id="17" name="Text 15"/>
          <p:cNvSpPr/>
          <p:nvPr/>
        </p:nvSpPr>
        <p:spPr>
          <a:xfrm>
            <a:off x="6355682" y="3611380"/>
            <a:ext cx="4985180"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79"/>
                </a:solidFill>
                <a:latin typeface="Arial" pitchFamily="34" charset="0"/>
                <a:ea typeface="Arial" pitchFamily="34" charset="-122"/>
                <a:cs typeface="Arial" pitchFamily="34" charset="-120"/>
              </a:rPr>
              <a:t>app.py</a:t>
            </a:r>
            <a:endParaRPr lang="en-US" sz="1200" dirty="0"/>
          </a:p>
        </p:txBody>
      </p:sp>
      <p:sp>
        <p:nvSpPr>
          <p:cNvPr id="18" name="Text 16"/>
          <p:cNvSpPr/>
          <p:nvPr/>
        </p:nvSpPr>
        <p:spPr>
          <a:xfrm>
            <a:off x="6355682" y="3888290"/>
            <a:ext cx="4985180"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Streamlit interface</a:t>
            </a:r>
            <a:endParaRPr lang="en-US" sz="1600" dirty="0"/>
          </a:p>
        </p:txBody>
      </p:sp>
      <p:sp>
        <p:nvSpPr>
          <p:cNvPr id="19" name="Text 17"/>
          <p:cNvSpPr/>
          <p:nvPr/>
        </p:nvSpPr>
        <p:spPr>
          <a:xfrm>
            <a:off x="6355682" y="4195598"/>
            <a:ext cx="4985180" cy="45222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2430"/>
                </a:solidFill>
                <a:latin typeface="Arial" pitchFamily="34" charset="0"/>
                <a:ea typeface="Arial" pitchFamily="34" charset="-122"/>
                <a:cs typeface="Arial" pitchFamily="34" charset="-120"/>
              </a:rPr>
              <a:t>Choose an existing part or upload a STEP file, set the size filter and tolerance (5 to 50%), and review top-5 match cards.</a:t>
            </a:r>
            <a:endParaRPr lang="en-US" sz="1200" dirty="0"/>
          </a:p>
        </p:txBody>
      </p:sp>
      <p:sp>
        <p:nvSpPr>
          <p:cNvPr id="20" name="Text 18"/>
          <p:cNvSpPr/>
          <p:nvPr/>
        </p:nvSpPr>
        <p:spPr>
          <a:xfrm>
            <a:off x="812782" y="6238242"/>
            <a:ext cx="719455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CAD Design Similarity Search | Reference document</a:t>
            </a:r>
            <a:endParaRPr lang="en-US" sz="1200" dirty="0"/>
          </a:p>
        </p:txBody>
      </p:sp>
      <p:sp>
        <p:nvSpPr>
          <p:cNvPr id="21" name="Text 19"/>
          <p:cNvSpPr/>
          <p:nvPr/>
        </p:nvSpPr>
        <p:spPr>
          <a:xfrm>
            <a:off x="9233862" y="6238242"/>
            <a:ext cx="2145265"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79"/>
                </a:solidFill>
                <a:latin typeface="Arial" pitchFamily="34" charset="0"/>
                <a:ea typeface="Arial" pitchFamily="34" charset="-122"/>
                <a:cs typeface="Arial" pitchFamily="34" charset="-120"/>
              </a:rPr>
              <a:t>USAGE</a:t>
            </a:r>
            <a:endParaRPr lang="en-US" sz="1200" dirty="0"/>
          </a:p>
        </p:txBody>
      </p:sp>
      <p:sp>
        <p:nvSpPr>
          <p:cNvPr id="3" name="Text 1"/>
          <p:cNvSpPr/>
          <p:nvPr>
            <p:ph type="title"/>
          </p:nvPr>
        </p:nvSpPr>
        <p:spPr>
          <a:xfrm>
            <a:off x="812782" y="1089692"/>
            <a:ext cx="10883429" cy="41650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430"/>
                </a:solidFill>
                <a:latin typeface="Georgia" pitchFamily="18" charset="0"/>
                <a:ea typeface="Georgia" pitchFamily="18" charset="-122"/>
                <a:cs typeface="Georgia" pitchFamily="18" charset="-120"/>
              </a:rPr>
              <a:t>Repository and usage</a:t>
            </a:r>
            <a:endParaRPr lang="en-US" sz="2800" dirty="0"/>
          </a:p>
        </p:txBody>
      </p:sp>
      <p:sp>
        <p:nvSpPr>
          <p:cNvPr id="4" name="Text 2"/>
          <p:cNvSpPr/>
          <p:nvPr/>
        </p:nvSpPr>
        <p:spPr>
          <a:xfrm>
            <a:off x="812782" y="1683922"/>
            <a:ext cx="1554632" cy="23881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E79"/>
                </a:solidFill>
                <a:latin typeface="Arial" pitchFamily="34" charset="0"/>
                <a:ea typeface="Arial" pitchFamily="34" charset="-122"/>
                <a:cs typeface="Arial" pitchFamily="34" charset="-120"/>
              </a:rPr>
              <a:t>GitHub repository</a:t>
            </a:r>
            <a:endParaRPr lang="en-US" sz="1200" dirty="0"/>
          </a:p>
        </p:txBody>
      </p:sp>
      <p:sp>
        <p:nvSpPr>
          <p:cNvPr id="5" name="Text 3"/>
          <p:cNvSpPr/>
          <p:nvPr/>
        </p:nvSpPr>
        <p:spPr>
          <a:xfrm>
            <a:off x="5991640" y="1683922"/>
            <a:ext cx="5387578" cy="238810"/>
          </a:xfrm>
          <a:prstGeom prst="rect">
            <a:avLst/>
          </a:prstGeom>
          <a:noFill/>
          <a:ln/>
        </p:spPr>
        <p:txBody>
          <a:bodyPr wrap="square" lIns="0" tIns="0" rIns="0" bIns="0" rtlCol="0" anchor="t">
            <a:normAutofit/>
          </a:bodyPr>
          <a:lstStyle/>
          <a:p>
            <a:pPr algn="r" indent="0" marL="0">
              <a:lnSpc>
                <a:spcPts val="1680"/>
              </a:lnSpc>
              <a:buNone/>
            </a:pPr>
            <a:r>
              <a:rPr lang="en-US" sz="1200" i="1" dirty="0">
                <a:solidFill>
                  <a:srgbClr val="5B6572"/>
                </a:solidFill>
                <a:latin typeface="Arial" pitchFamily="34" charset="0"/>
                <a:ea typeface="Arial" pitchFamily="34" charset="-122"/>
                <a:cs typeface="Arial" pitchFamily="34" charset="-120"/>
              </a:rPr>
              <a:t>Placeholder: confirm the final repository location before circulation.</a:t>
            </a:r>
            <a:endParaRPr lang="en-US" sz="1200" dirty="0"/>
          </a:p>
        </p:txBody>
      </p:sp>
      <p:sp>
        <p:nvSpPr>
          <p:cNvPr id="6" name="Text 4"/>
          <p:cNvSpPr/>
          <p:nvPr/>
        </p:nvSpPr>
        <p:spPr>
          <a:xfrm>
            <a:off x="812782" y="1948114"/>
            <a:ext cx="10566436" cy="467410"/>
          </a:xfrm>
          <a:prstGeom prst="roundRect">
            <a:avLst>
              <a:gd name="adj" fmla="val 8151"/>
            </a:avLst>
          </a:prstGeom>
          <a:solidFill>
            <a:srgbClr val="1B2430"/>
          </a:solidFill>
          <a:ln/>
        </p:spPr>
        <p:txBody>
          <a:bodyPr wrap="square" lIns="166623" tIns="115841" rIns="0" bIns="90441" rtlCol="0" anchor="t">
            <a:normAutofit/>
          </a:bodyPr>
          <a:lstStyle/>
          <a:p>
            <a:pPr algn="l" indent="0" marL="0">
              <a:lnSpc>
                <a:spcPts val="1680"/>
              </a:lnSpc>
              <a:buNone/>
            </a:pPr>
            <a:r>
              <a:rPr lang="en-US" sz="1200" dirty="0">
                <a:solidFill>
                  <a:srgbClr val="E6E4DC"/>
                </a:solidFill>
                <a:latin typeface="Courier New" pitchFamily="49" charset="0"/>
                <a:ea typeface="Courier New" pitchFamily="49" charset="-122"/>
                <a:cs typeface="Courier New" pitchFamily="49" charset="-120"/>
              </a:rPr>
              <a:t>git clone https://github.com/vishalprabu-lab/shape-similarity-search.git</a:t>
            </a:r>
            <a:endParaRPr lang="en-US" sz="1200" dirty="0"/>
          </a:p>
        </p:txBody>
      </p:sp>
      <p:sp>
        <p:nvSpPr>
          <p:cNvPr id="7" name="Text 5"/>
          <p:cNvSpPr/>
          <p:nvPr/>
        </p:nvSpPr>
        <p:spPr>
          <a:xfrm>
            <a:off x="812782" y="2618653"/>
            <a:ext cx="6687847"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Environment setup</a:t>
            </a:r>
            <a:endParaRPr lang="en-US" sz="1600" dirty="0"/>
          </a:p>
        </p:txBody>
      </p:sp>
      <p:sp>
        <p:nvSpPr>
          <p:cNvPr id="8" name="Shape 6"/>
          <p:cNvSpPr/>
          <p:nvPr/>
        </p:nvSpPr>
        <p:spPr>
          <a:xfrm>
            <a:off x="812782" y="2938587"/>
            <a:ext cx="6493055" cy="1763027"/>
          </a:xfrm>
          <a:prstGeom prst="roundRect">
            <a:avLst>
              <a:gd name="adj" fmla="val 2161"/>
            </a:avLst>
          </a:prstGeom>
          <a:solidFill>
            <a:srgbClr val="1B2430"/>
          </a:solidFill>
          <a:ln/>
        </p:spPr>
      </p:sp>
      <p:sp>
        <p:nvSpPr>
          <p:cNvPr id="9" name="Text 7"/>
          <p:cNvSpPr/>
          <p:nvPr/>
        </p:nvSpPr>
        <p:spPr>
          <a:xfrm>
            <a:off x="990564" y="3027434"/>
            <a:ext cx="6321616"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B4D9"/>
                </a:solidFill>
                <a:latin typeface="Courier New" pitchFamily="49" charset="0"/>
                <a:ea typeface="Courier New" pitchFamily="49" charset="-122"/>
                <a:cs typeface="Courier New" pitchFamily="49" charset="-120"/>
              </a:rPr>
              <a:t># brepnet: embeddings, properties, app</a:t>
            </a:r>
            <a:endParaRPr lang="en-US" sz="1200" dirty="0"/>
          </a:p>
        </p:txBody>
      </p:sp>
      <p:sp>
        <p:nvSpPr>
          <p:cNvPr id="10" name="Text 8"/>
          <p:cNvSpPr/>
          <p:nvPr/>
        </p:nvSpPr>
        <p:spPr>
          <a:xfrm>
            <a:off x="990564" y="3225598"/>
            <a:ext cx="6321616"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4DC"/>
                </a:solidFill>
                <a:latin typeface="Courier New" pitchFamily="49" charset="0"/>
                <a:ea typeface="Courier New" pitchFamily="49" charset="-122"/>
                <a:cs typeface="Courier New" pitchFamily="49" charset="-120"/>
              </a:rPr>
              <a:t>conda create -n brepnet python=3.10 -c conda-forge -y</a:t>
            </a:r>
            <a:endParaRPr lang="en-US" sz="1200" dirty="0"/>
          </a:p>
        </p:txBody>
      </p:sp>
      <p:sp>
        <p:nvSpPr>
          <p:cNvPr id="11" name="Text 9"/>
          <p:cNvSpPr/>
          <p:nvPr/>
        </p:nvSpPr>
        <p:spPr>
          <a:xfrm>
            <a:off x="990564" y="3423766"/>
            <a:ext cx="6321616"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4DC"/>
                </a:solidFill>
                <a:latin typeface="Courier New" pitchFamily="49" charset="0"/>
                <a:ea typeface="Courier New" pitchFamily="49" charset="-122"/>
                <a:cs typeface="Courier New" pitchFamily="49" charset="-120"/>
              </a:rPr>
              <a:t>conda activate brepnet</a:t>
            </a:r>
            <a:endParaRPr lang="en-US" sz="1200" dirty="0"/>
          </a:p>
        </p:txBody>
      </p:sp>
      <p:sp>
        <p:nvSpPr>
          <p:cNvPr id="12" name="Text 10"/>
          <p:cNvSpPr/>
          <p:nvPr/>
        </p:nvSpPr>
        <p:spPr>
          <a:xfrm>
            <a:off x="990564" y="3621934"/>
            <a:ext cx="6321616"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4DC"/>
                </a:solidFill>
                <a:latin typeface="Courier New" pitchFamily="49" charset="0"/>
                <a:ea typeface="Courier New" pitchFamily="49" charset="-122"/>
                <a:cs typeface="Courier New" pitchFamily="49" charset="-120"/>
              </a:rPr>
              <a:t>conda install -c conda-forge pythonocc-core=7.7.0 igl -y</a:t>
            </a:r>
            <a:endParaRPr lang="en-US" sz="1200" dirty="0"/>
          </a:p>
        </p:txBody>
      </p:sp>
      <p:sp>
        <p:nvSpPr>
          <p:cNvPr id="13" name="Text 11"/>
          <p:cNvSpPr/>
          <p:nvPr/>
        </p:nvSpPr>
        <p:spPr>
          <a:xfrm>
            <a:off x="990564" y="3820102"/>
            <a:ext cx="6321616"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4DC"/>
                </a:solidFill>
                <a:latin typeface="Courier New" pitchFamily="49" charset="0"/>
                <a:ea typeface="Courier New" pitchFamily="49" charset="-122"/>
                <a:cs typeface="Courier New" pitchFamily="49" charset="-120"/>
              </a:rPr>
              <a:t>pip install torch --index-url https://download.pytorch.org/whl/cpu</a:t>
            </a:r>
            <a:endParaRPr lang="en-US" sz="1200" dirty="0"/>
          </a:p>
        </p:txBody>
      </p:sp>
      <p:sp>
        <p:nvSpPr>
          <p:cNvPr id="14" name="Text 12"/>
          <p:cNvSpPr/>
          <p:nvPr/>
        </p:nvSpPr>
        <p:spPr>
          <a:xfrm>
            <a:off x="990564" y="4018266"/>
            <a:ext cx="6321616"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4DC"/>
                </a:solidFill>
                <a:latin typeface="Courier New" pitchFamily="49" charset="0"/>
                <a:ea typeface="Courier New" pitchFamily="49" charset="-122"/>
                <a:cs typeface="Courier New" pitchFamily="49" charset="-120"/>
              </a:rPr>
              <a:t>pip install pytorch-lightning==2.6.5 pyDeprecate</a:t>
            </a:r>
            <a:endParaRPr lang="en-US" sz="1200" dirty="0"/>
          </a:p>
        </p:txBody>
      </p:sp>
      <p:sp>
        <p:nvSpPr>
          <p:cNvPr id="15" name="Text 13"/>
          <p:cNvSpPr/>
          <p:nvPr/>
        </p:nvSpPr>
        <p:spPr>
          <a:xfrm>
            <a:off x="990564" y="4216434"/>
            <a:ext cx="6321616"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4DC"/>
                </a:solidFill>
                <a:latin typeface="Courier New" pitchFamily="49" charset="0"/>
                <a:ea typeface="Courier New" pitchFamily="49" charset="-122"/>
                <a:cs typeface="Courier New" pitchFamily="49" charset="-120"/>
              </a:rPr>
              <a:t>pip install faiss-cpu streamlit</a:t>
            </a:r>
            <a:endParaRPr lang="en-US" sz="1200" dirty="0"/>
          </a:p>
        </p:txBody>
      </p:sp>
      <p:sp>
        <p:nvSpPr>
          <p:cNvPr id="16" name="Text 14"/>
          <p:cNvSpPr/>
          <p:nvPr/>
        </p:nvSpPr>
        <p:spPr>
          <a:xfrm>
            <a:off x="990564" y="4414602"/>
            <a:ext cx="6321616"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4DC"/>
                </a:solidFill>
                <a:latin typeface="Courier New" pitchFamily="49" charset="0"/>
                <a:ea typeface="Courier New" pitchFamily="49" charset="-122"/>
                <a:cs typeface="Courier New" pitchFamily="49" charset="-120"/>
              </a:rPr>
              <a:t>pip install ./external/occwl</a:t>
            </a:r>
            <a:endParaRPr lang="en-US" sz="1200" dirty="0"/>
          </a:p>
        </p:txBody>
      </p:sp>
      <p:sp>
        <p:nvSpPr>
          <p:cNvPr id="17" name="Shape 15"/>
          <p:cNvSpPr/>
          <p:nvPr/>
        </p:nvSpPr>
        <p:spPr>
          <a:xfrm>
            <a:off x="812782" y="4777742"/>
            <a:ext cx="6493055" cy="970359"/>
          </a:xfrm>
          <a:prstGeom prst="roundRect">
            <a:avLst>
              <a:gd name="adj" fmla="val 3926"/>
            </a:avLst>
          </a:prstGeom>
          <a:solidFill>
            <a:srgbClr val="1B2430"/>
          </a:solidFill>
          <a:ln/>
        </p:spPr>
      </p:sp>
      <p:sp>
        <p:nvSpPr>
          <p:cNvPr id="18" name="Text 16"/>
          <p:cNvSpPr/>
          <p:nvPr/>
        </p:nvSpPr>
        <p:spPr>
          <a:xfrm>
            <a:off x="990564" y="4866587"/>
            <a:ext cx="6321616"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FB4D9"/>
                </a:solidFill>
                <a:latin typeface="Courier New" pitchFamily="49" charset="0"/>
                <a:ea typeface="Courier New" pitchFamily="49" charset="-122"/>
                <a:cs typeface="Courier New" pitchFamily="49" charset="-120"/>
              </a:rPr>
              <a:t># .venv: subset, index, basic query</a:t>
            </a:r>
            <a:endParaRPr lang="en-US" sz="1200" dirty="0"/>
          </a:p>
        </p:txBody>
      </p:sp>
      <p:sp>
        <p:nvSpPr>
          <p:cNvPr id="19" name="Text 17"/>
          <p:cNvSpPr/>
          <p:nvPr/>
        </p:nvSpPr>
        <p:spPr>
          <a:xfrm>
            <a:off x="990564" y="5064754"/>
            <a:ext cx="6321616"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4DC"/>
                </a:solidFill>
                <a:latin typeface="Courier New" pitchFamily="49" charset="0"/>
                <a:ea typeface="Courier New" pitchFamily="49" charset="-122"/>
                <a:cs typeface="Courier New" pitchFamily="49" charset="-120"/>
              </a:rPr>
              <a:t>python -m venv .venv</a:t>
            </a:r>
            <a:endParaRPr lang="en-US" sz="1200" dirty="0"/>
          </a:p>
        </p:txBody>
      </p:sp>
      <p:sp>
        <p:nvSpPr>
          <p:cNvPr id="20" name="Text 18"/>
          <p:cNvSpPr/>
          <p:nvPr/>
        </p:nvSpPr>
        <p:spPr>
          <a:xfrm>
            <a:off x="990564" y="5262922"/>
            <a:ext cx="6321616"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4DC"/>
                </a:solidFill>
                <a:latin typeface="Courier New" pitchFamily="49" charset="0"/>
                <a:ea typeface="Courier New" pitchFamily="49" charset="-122"/>
                <a:cs typeface="Courier New" pitchFamily="49" charset="-120"/>
              </a:rPr>
              <a:t>.venv\Scripts\activate.bat</a:t>
            </a:r>
            <a:endParaRPr lang="en-US" sz="1200" dirty="0"/>
          </a:p>
        </p:txBody>
      </p:sp>
      <p:sp>
        <p:nvSpPr>
          <p:cNvPr id="21" name="Text 19"/>
          <p:cNvSpPr/>
          <p:nvPr/>
        </p:nvSpPr>
        <p:spPr>
          <a:xfrm>
            <a:off x="990564" y="5461090"/>
            <a:ext cx="6321616"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6E4DC"/>
                </a:solidFill>
                <a:latin typeface="Courier New" pitchFamily="49" charset="0"/>
                <a:ea typeface="Courier New" pitchFamily="49" charset="-122"/>
                <a:cs typeface="Courier New" pitchFamily="49" charset="-120"/>
              </a:rPr>
              <a:t>pip install -r requirements.txt faiss-cpu</a:t>
            </a:r>
            <a:endParaRPr lang="en-US" sz="1200" dirty="0"/>
          </a:p>
        </p:txBody>
      </p:sp>
      <p:sp>
        <p:nvSpPr>
          <p:cNvPr id="22" name="Text 20"/>
          <p:cNvSpPr/>
          <p:nvPr/>
        </p:nvSpPr>
        <p:spPr>
          <a:xfrm>
            <a:off x="7559837" y="2618653"/>
            <a:ext cx="3933962"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Run order</a:t>
            </a:r>
            <a:endParaRPr lang="en-US" sz="1600" dirty="0"/>
          </a:p>
        </p:txBody>
      </p:sp>
      <p:sp>
        <p:nvSpPr>
          <p:cNvPr id="23" name="Text 21"/>
          <p:cNvSpPr/>
          <p:nvPr/>
        </p:nvSpPr>
        <p:spPr>
          <a:xfrm>
            <a:off x="7559837" y="2938587"/>
            <a:ext cx="3933962"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F4E79"/>
                </a:solidFill>
                <a:latin typeface="Courier New" pitchFamily="49" charset="0"/>
                <a:ea typeface="Courier New" pitchFamily="49" charset="-122"/>
                <a:cs typeface="Courier New" pitchFamily="49" charset="-120"/>
              </a:rPr>
              <a:t>python inventory_data.py</a:t>
            </a:r>
            <a:endParaRPr lang="en-US" sz="1200" dirty="0"/>
          </a:p>
        </p:txBody>
      </p:sp>
      <p:sp>
        <p:nvSpPr>
          <p:cNvPr id="24" name="Text 22"/>
          <p:cNvSpPr/>
          <p:nvPr/>
        </p:nvSpPr>
        <p:spPr>
          <a:xfrm>
            <a:off x="7559837" y="3136754"/>
            <a:ext cx="3933962"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572"/>
                </a:solidFill>
                <a:latin typeface="Arial" pitchFamily="34" charset="0"/>
                <a:ea typeface="Arial" pitchFamily="34" charset="-122"/>
                <a:cs typeface="Arial" pitchFamily="34" charset="-120"/>
              </a:rPr>
              <a:t>src/, .venv: build the 500-design subset</a:t>
            </a:r>
            <a:endParaRPr lang="en-US" sz="1200" dirty="0"/>
          </a:p>
        </p:txBody>
      </p:sp>
      <p:sp>
        <p:nvSpPr>
          <p:cNvPr id="25" name="Text 23"/>
          <p:cNvSpPr/>
          <p:nvPr/>
        </p:nvSpPr>
        <p:spPr>
          <a:xfrm>
            <a:off x="7559837" y="3398422"/>
            <a:ext cx="3933962"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F4E79"/>
                </a:solidFill>
                <a:latin typeface="Courier New" pitchFamily="49" charset="0"/>
                <a:ea typeface="Courier New" pitchFamily="49" charset="-122"/>
                <a:cs typeface="Courier New" pitchFamily="49" charset="-120"/>
              </a:rPr>
              <a:t>python run_batch_embeddings.py</a:t>
            </a:r>
            <a:endParaRPr lang="en-US" sz="1200" dirty="0"/>
          </a:p>
        </p:txBody>
      </p:sp>
      <p:sp>
        <p:nvSpPr>
          <p:cNvPr id="26" name="Text 24"/>
          <p:cNvSpPr/>
          <p:nvPr/>
        </p:nvSpPr>
        <p:spPr>
          <a:xfrm>
            <a:off x="7559837" y="3596587"/>
            <a:ext cx="3933962"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572"/>
                </a:solidFill>
                <a:latin typeface="Arial" pitchFamily="34" charset="0"/>
                <a:ea typeface="Arial" pitchFamily="34" charset="-122"/>
                <a:cs typeface="Arial" pitchFamily="34" charset="-120"/>
              </a:rPr>
              <a:t>external/BRepNet/, brepnet: embeddings</a:t>
            </a:r>
            <a:endParaRPr lang="en-US" sz="1200" dirty="0"/>
          </a:p>
        </p:txBody>
      </p:sp>
      <p:sp>
        <p:nvSpPr>
          <p:cNvPr id="27" name="Text 25"/>
          <p:cNvSpPr/>
          <p:nvPr/>
        </p:nvSpPr>
        <p:spPr>
          <a:xfrm>
            <a:off x="7559837" y="3858254"/>
            <a:ext cx="3933962"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F4E79"/>
                </a:solidFill>
                <a:latin typeface="Courier New" pitchFamily="49" charset="0"/>
                <a:ea typeface="Courier New" pitchFamily="49" charset="-122"/>
                <a:cs typeface="Courier New" pitchFamily="49" charset="-120"/>
              </a:rPr>
              <a:t>python build_faiss_index.py</a:t>
            </a:r>
            <a:endParaRPr lang="en-US" sz="1200" dirty="0"/>
          </a:p>
        </p:txBody>
      </p:sp>
      <p:sp>
        <p:nvSpPr>
          <p:cNvPr id="28" name="Text 26"/>
          <p:cNvSpPr/>
          <p:nvPr/>
        </p:nvSpPr>
        <p:spPr>
          <a:xfrm>
            <a:off x="7559837" y="4056422"/>
            <a:ext cx="3933962"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572"/>
                </a:solidFill>
                <a:latin typeface="Arial" pitchFamily="34" charset="0"/>
                <a:ea typeface="Arial" pitchFamily="34" charset="-122"/>
                <a:cs typeface="Arial" pitchFamily="34" charset="-120"/>
              </a:rPr>
              <a:t>src/, .venv: FAISS index</a:t>
            </a:r>
            <a:endParaRPr lang="en-US" sz="1200" dirty="0"/>
          </a:p>
        </p:txBody>
      </p:sp>
      <p:sp>
        <p:nvSpPr>
          <p:cNvPr id="29" name="Text 27"/>
          <p:cNvSpPr/>
          <p:nvPr/>
        </p:nvSpPr>
        <p:spPr>
          <a:xfrm>
            <a:off x="7559837" y="4318090"/>
            <a:ext cx="3933962"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F4E79"/>
                </a:solidFill>
                <a:latin typeface="Courier New" pitchFamily="49" charset="0"/>
                <a:ea typeface="Courier New" pitchFamily="49" charset="-122"/>
                <a:cs typeface="Courier New" pitchFamily="49" charset="-120"/>
              </a:rPr>
              <a:t>python src/part_properties.py</a:t>
            </a:r>
            <a:endParaRPr lang="en-US" sz="1200" dirty="0"/>
          </a:p>
        </p:txBody>
      </p:sp>
      <p:sp>
        <p:nvSpPr>
          <p:cNvPr id="30" name="Text 28"/>
          <p:cNvSpPr/>
          <p:nvPr/>
        </p:nvSpPr>
        <p:spPr>
          <a:xfrm>
            <a:off x="7559837" y="4516255"/>
            <a:ext cx="3933962"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572"/>
                </a:solidFill>
                <a:latin typeface="Arial" pitchFamily="34" charset="0"/>
                <a:ea typeface="Arial" pitchFamily="34" charset="-122"/>
                <a:cs typeface="Arial" pitchFamily="34" charset="-120"/>
              </a:rPr>
              <a:t>root, brepnet: part_properties.csv</a:t>
            </a:r>
            <a:endParaRPr lang="en-US" sz="1200" dirty="0"/>
          </a:p>
        </p:txBody>
      </p:sp>
      <p:sp>
        <p:nvSpPr>
          <p:cNvPr id="31" name="Text 29"/>
          <p:cNvSpPr/>
          <p:nvPr/>
        </p:nvSpPr>
        <p:spPr>
          <a:xfrm>
            <a:off x="7559837" y="4777922"/>
            <a:ext cx="3933962"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F4E79"/>
                </a:solidFill>
                <a:latin typeface="Courier New" pitchFamily="49" charset="0"/>
                <a:ea typeface="Courier New" pitchFamily="49" charset="-122"/>
                <a:cs typeface="Courier New" pitchFamily="49" charset="-120"/>
              </a:rPr>
              <a:t>streamlit run app.py</a:t>
            </a:r>
            <a:endParaRPr lang="en-US" sz="1200" dirty="0"/>
          </a:p>
        </p:txBody>
      </p:sp>
      <p:sp>
        <p:nvSpPr>
          <p:cNvPr id="32" name="Text 30"/>
          <p:cNvSpPr/>
          <p:nvPr/>
        </p:nvSpPr>
        <p:spPr>
          <a:xfrm>
            <a:off x="7559837" y="4976090"/>
            <a:ext cx="3933962" cy="22356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572"/>
                </a:solidFill>
                <a:latin typeface="Arial" pitchFamily="34" charset="0"/>
                <a:ea typeface="Arial" pitchFamily="34" charset="-122"/>
                <a:cs typeface="Arial" pitchFamily="34" charset="-120"/>
              </a:rPr>
              <a:t>root, brepnet: web interface</a:t>
            </a:r>
            <a:endParaRPr lang="en-US" sz="1200" dirty="0"/>
          </a:p>
        </p:txBody>
      </p:sp>
      <p:sp>
        <p:nvSpPr>
          <p:cNvPr id="33" name="Text 31"/>
          <p:cNvSpPr/>
          <p:nvPr/>
        </p:nvSpPr>
        <p:spPr>
          <a:xfrm>
            <a:off x="812782" y="6238242"/>
            <a:ext cx="850265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CAD Design Similarity Search | Reference document | The Fusion 360 Gallery data is downloaded separately</a:t>
            </a:r>
            <a:endParaRPr lang="en-US" sz="1200" dirty="0"/>
          </a:p>
        </p:txBody>
      </p:sp>
      <p:sp>
        <p:nvSpPr>
          <p:cNvPr id="34" name="Text 32"/>
          <p:cNvSpPr/>
          <p:nvPr/>
        </p:nvSpPr>
        <p:spPr>
          <a:xfrm>
            <a:off x="9233862" y="6238242"/>
            <a:ext cx="2145265"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1"/>
        </a:solidFill>
      </p:bgPr>
    </p:bg>
    <p:spTree>
      <p:nvGrpSpPr>
        <p:cNvPr id="1" name=""/>
        <p:cNvGrpSpPr/>
        <p:nvPr/>
      </p:nvGrpSpPr>
      <p:grpSpPr>
        <a:xfrm>
          <a:off x="0" y="0"/>
          <a:ext cx="0" cy="0"/>
          <a:chOff x="0" y="0"/>
          <a:chExt cx="0" cy="0"/>
        </a:xfrm>
      </p:grpSpPr>
      <p:sp>
        <p:nvSpPr>
          <p:cNvPr id="2" name="Text 0"/>
          <p:cNvSpPr/>
          <p:nvPr/>
        </p:nvSpPr>
        <p:spPr>
          <a:xfrm>
            <a:off x="812782" y="812784"/>
            <a:ext cx="10883429" cy="23881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4E79"/>
                </a:solidFill>
                <a:latin typeface="Arial" pitchFamily="34" charset="0"/>
                <a:ea typeface="Arial" pitchFamily="34" charset="-122"/>
                <a:cs typeface="Arial" pitchFamily="34" charset="-120"/>
              </a:rPr>
              <a:t>OUTLOOK</a:t>
            </a:r>
            <a:endParaRPr lang="en-US" sz="1200" dirty="0"/>
          </a:p>
        </p:txBody>
      </p:sp>
      <p:sp>
        <p:nvSpPr>
          <p:cNvPr id="3" name="Text 1"/>
          <p:cNvSpPr/>
          <p:nvPr>
            <p:ph type="title"/>
          </p:nvPr>
        </p:nvSpPr>
        <p:spPr>
          <a:xfrm>
            <a:off x="812782" y="1089695"/>
            <a:ext cx="10883429" cy="416502"/>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B2430"/>
                </a:solidFill>
                <a:latin typeface="Georgia" pitchFamily="18" charset="0"/>
                <a:ea typeface="Georgia" pitchFamily="18" charset="-122"/>
                <a:cs typeface="Georgia" pitchFamily="18" charset="-120"/>
              </a:rPr>
              <a:t>Limitations and further use</a:t>
            </a:r>
            <a:endParaRPr lang="en-US" sz="2800" dirty="0"/>
          </a:p>
        </p:txBody>
      </p:sp>
      <p:sp>
        <p:nvSpPr>
          <p:cNvPr id="4" name="Shape 2"/>
          <p:cNvSpPr/>
          <p:nvPr/>
        </p:nvSpPr>
        <p:spPr>
          <a:xfrm>
            <a:off x="812782" y="1690275"/>
            <a:ext cx="5080000" cy="0"/>
          </a:xfrm>
          <a:prstGeom prst="line">
            <a:avLst/>
          </a:prstGeom>
          <a:noFill/>
          <a:ln w="12700">
            <a:solidFill>
              <a:srgbClr val="1B2430"/>
            </a:solidFill>
            <a:prstDash val="solid"/>
          </a:ln>
        </p:spPr>
      </p:sp>
      <p:sp>
        <p:nvSpPr>
          <p:cNvPr id="5" name="Text 3"/>
          <p:cNvSpPr/>
          <p:nvPr/>
        </p:nvSpPr>
        <p:spPr>
          <a:xfrm>
            <a:off x="812782" y="1847816"/>
            <a:ext cx="5232400"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Known limitations</a:t>
            </a:r>
            <a:endParaRPr lang="en-US" sz="1600" dirty="0"/>
          </a:p>
        </p:txBody>
      </p:sp>
      <p:sp>
        <p:nvSpPr>
          <p:cNvPr id="6" name="Text 4"/>
          <p:cNvSpPr/>
          <p:nvPr/>
        </p:nvSpPr>
        <p:spPr>
          <a:xfrm>
            <a:off x="812782" y="2218624"/>
            <a:ext cx="5232400" cy="87904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Similarity is not size.</a:t>
            </a:r>
            <a:r>
              <a:rPr lang="en-US" sz="1200" dirty="0">
                <a:solidFill>
                  <a:srgbClr val="1B2430"/>
                </a:solidFill>
                <a:latin typeface="Arial" pitchFamily="34" charset="0"/>
                <a:ea typeface="Arial" pitchFamily="34" charset="-122"/>
                <a:cs typeface="Arial" pitchFamily="34" charset="-120"/>
              </a:rPr>
              <a:t> Matches share feature composition, so a thin column can match a thick bar. The size filter corrects this, but filtered matches lie far in embedding space (distance 17 to 27, against 0.04 to 0.5 unfiltered).</a:t>
            </a:r>
            <a:endParaRPr lang="en-US" sz="1200" dirty="0"/>
          </a:p>
        </p:txBody>
      </p:sp>
      <p:sp>
        <p:nvSpPr>
          <p:cNvPr id="7" name="Text 5"/>
          <p:cNvSpPr/>
          <p:nvPr/>
        </p:nvSpPr>
        <p:spPr>
          <a:xfrm>
            <a:off x="812782" y="3199265"/>
            <a:ext cx="5232400" cy="6656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Complex parts.</a:t>
            </a:r>
            <a:r>
              <a:rPr lang="en-US" sz="1200" dirty="0">
                <a:solidFill>
                  <a:srgbClr val="1B2430"/>
                </a:solidFill>
                <a:latin typeface="Arial" pitchFamily="34" charset="0"/>
                <a:ea typeface="Arial" pitchFamily="34" charset="-122"/>
                <a:cs typeface="Arial" pitchFamily="34" charset="-120"/>
              </a:rPr>
              <a:t> Retrieval is less consistent on geometrically complex parts. Mean pooling of per-face embeddings is the suspected cause; not yet root-caused.</a:t>
            </a:r>
            <a:endParaRPr lang="en-US" sz="1200" dirty="0"/>
          </a:p>
        </p:txBody>
      </p:sp>
      <p:sp>
        <p:nvSpPr>
          <p:cNvPr id="8" name="Text 6"/>
          <p:cNvSpPr/>
          <p:nvPr/>
        </p:nvSpPr>
        <p:spPr>
          <a:xfrm>
            <a:off x="812782" y="3966496"/>
            <a:ext cx="5232400" cy="6656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Malformed STEP files.</a:t>
            </a:r>
            <a:r>
              <a:rPr lang="en-US" sz="1200" dirty="0">
                <a:solidFill>
                  <a:srgbClr val="1B2430"/>
                </a:solidFill>
                <a:latin typeface="Arial" pitchFamily="34" charset="0"/>
                <a:ea typeface="Arial" pitchFamily="34" charset="-122"/>
                <a:cs typeface="Arial" pitchFamily="34" charset="-120"/>
              </a:rPr>
              <a:t> A file that loads but is malformed can crash pythonocc inside the BRepNet pipeline. Unreadable files are rejected before embedding; malformed ones are not.</a:t>
            </a:r>
            <a:endParaRPr lang="en-US" sz="1200" dirty="0"/>
          </a:p>
        </p:txBody>
      </p:sp>
      <p:sp>
        <p:nvSpPr>
          <p:cNvPr id="9" name="Text 7"/>
          <p:cNvSpPr/>
          <p:nvPr/>
        </p:nvSpPr>
        <p:spPr>
          <a:xfrm>
            <a:off x="812782" y="4733730"/>
            <a:ext cx="5232400" cy="6656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Scope and licence.</a:t>
            </a:r>
            <a:r>
              <a:rPr lang="en-US" sz="1200" dirty="0">
                <a:solidFill>
                  <a:srgbClr val="1B2430"/>
                </a:solidFill>
                <a:latin typeface="Arial" pitchFamily="34" charset="0"/>
                <a:ea typeface="Arial" pitchFamily="34" charset="-122"/>
                <a:cs typeface="Arial" pitchFamily="34" charset="-120"/>
              </a:rPr>
              <a:t> The index covers 500 designs, including some unit-scale outliers. The Fusion 360 Gallery data is licensed for non-commercial research only.</a:t>
            </a:r>
            <a:endParaRPr lang="en-US" sz="1200" dirty="0"/>
          </a:p>
        </p:txBody>
      </p:sp>
      <p:sp>
        <p:nvSpPr>
          <p:cNvPr id="10" name="Shape 8"/>
          <p:cNvSpPr/>
          <p:nvPr/>
        </p:nvSpPr>
        <p:spPr>
          <a:xfrm>
            <a:off x="6299128" y="1690275"/>
            <a:ext cx="5080090" cy="0"/>
          </a:xfrm>
          <a:prstGeom prst="line">
            <a:avLst/>
          </a:prstGeom>
          <a:noFill/>
          <a:ln w="12700">
            <a:solidFill>
              <a:srgbClr val="1B2430"/>
            </a:solidFill>
            <a:prstDash val="solid"/>
          </a:ln>
        </p:spPr>
      </p:sp>
      <p:sp>
        <p:nvSpPr>
          <p:cNvPr id="11" name="Text 9"/>
          <p:cNvSpPr/>
          <p:nvPr/>
        </p:nvSpPr>
        <p:spPr>
          <a:xfrm>
            <a:off x="6299128" y="1847816"/>
            <a:ext cx="5232493" cy="269208"/>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430"/>
                </a:solidFill>
                <a:latin typeface="Georgia" pitchFamily="18" charset="0"/>
                <a:ea typeface="Georgia" pitchFamily="18" charset="-122"/>
                <a:cs typeface="Georgia" pitchFamily="18" charset="-120"/>
              </a:rPr>
              <a:t>Further use and next steps</a:t>
            </a:r>
            <a:endParaRPr lang="en-US" sz="1600" dirty="0"/>
          </a:p>
        </p:txBody>
      </p:sp>
      <p:sp>
        <p:nvSpPr>
          <p:cNvPr id="12" name="Text 10"/>
          <p:cNvSpPr/>
          <p:nvPr/>
        </p:nvSpPr>
        <p:spPr>
          <a:xfrm>
            <a:off x="6299128" y="2218624"/>
            <a:ext cx="5232493" cy="45222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Design reuse.</a:t>
            </a:r>
            <a:r>
              <a:rPr lang="en-US" sz="1200" dirty="0">
                <a:solidFill>
                  <a:srgbClr val="1B2430"/>
                </a:solidFill>
                <a:latin typeface="Arial" pitchFamily="34" charset="0"/>
                <a:ea typeface="Arial" pitchFamily="34" charset="-122"/>
                <a:cs typeface="Arial" pitchFamily="34" charset="-120"/>
              </a:rPr>
              <a:t> Query the repository with a new part before modelling, to find existing designs to reuse or adapt.</a:t>
            </a:r>
            <a:endParaRPr lang="en-US" sz="1200" dirty="0"/>
          </a:p>
        </p:txBody>
      </p:sp>
      <p:sp>
        <p:nvSpPr>
          <p:cNvPr id="13" name="Text 11"/>
          <p:cNvSpPr/>
          <p:nvPr/>
        </p:nvSpPr>
        <p:spPr>
          <a:xfrm>
            <a:off x="6299128" y="2772445"/>
            <a:ext cx="5232493" cy="45222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Duplicate detection.</a:t>
            </a:r>
            <a:r>
              <a:rPr lang="en-US" sz="1200" dirty="0">
                <a:solidFill>
                  <a:srgbClr val="1B2430"/>
                </a:solidFill>
                <a:latin typeface="Arial" pitchFamily="34" charset="0"/>
                <a:ea typeface="Arial" pitchFamily="34" charset="-122"/>
                <a:cs typeface="Arial" pitchFamily="34" charset="-120"/>
              </a:rPr>
              <a:t> Very small distances flag candidate near-duplicate designs for review.</a:t>
            </a:r>
            <a:endParaRPr lang="en-US" sz="1200" dirty="0"/>
          </a:p>
        </p:txBody>
      </p:sp>
      <p:sp>
        <p:nvSpPr>
          <p:cNvPr id="14" name="Text 12"/>
          <p:cNvSpPr/>
          <p:nvPr/>
        </p:nvSpPr>
        <p:spPr>
          <a:xfrm>
            <a:off x="6299128" y="3326265"/>
            <a:ext cx="5232493" cy="6656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Feature-aware search.</a:t>
            </a:r>
            <a:r>
              <a:rPr lang="en-US" sz="1200" dirty="0">
                <a:solidFill>
                  <a:srgbClr val="1B2430"/>
                </a:solidFill>
                <a:latin typeface="Arial" pitchFamily="34" charset="0"/>
                <a:ea typeface="Arial" pitchFamily="34" charset="-122"/>
                <a:cs typeface="Arial" pitchFamily="34" charset="-120"/>
              </a:rPr>
              <a:t> The same BRepNet backbone supports machining-feature recognition. Predicted features can complement embeddings for ranking and filtering.</a:t>
            </a:r>
            <a:endParaRPr lang="en-US" sz="1200" dirty="0"/>
          </a:p>
        </p:txBody>
      </p:sp>
      <p:sp>
        <p:nvSpPr>
          <p:cNvPr id="15" name="Text 13"/>
          <p:cNvSpPr/>
          <p:nvPr/>
        </p:nvSpPr>
        <p:spPr>
          <a:xfrm>
            <a:off x="6299128" y="4093496"/>
            <a:ext cx="5232493" cy="66563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Retrieval quality.</a:t>
            </a:r>
            <a:r>
              <a:rPr lang="en-US" sz="1200" dirty="0">
                <a:solidFill>
                  <a:srgbClr val="1B2430"/>
                </a:solidFill>
                <a:latin typeface="Arial" pitchFamily="34" charset="0"/>
                <a:ea typeface="Arial" pitchFamily="34" charset="-122"/>
                <a:cs typeface="Arial" pitchFamily="34" charset="-120"/>
              </a:rPr>
              <a:t> Evaluate alternatives to mean pooling on complex parts, and move to an approximate FAISS index if the repository grows substantially.</a:t>
            </a:r>
            <a:endParaRPr lang="en-US" sz="1200" dirty="0"/>
          </a:p>
        </p:txBody>
      </p:sp>
      <p:sp>
        <p:nvSpPr>
          <p:cNvPr id="16" name="Text 14"/>
          <p:cNvSpPr/>
          <p:nvPr/>
        </p:nvSpPr>
        <p:spPr>
          <a:xfrm>
            <a:off x="6299128" y="4860730"/>
            <a:ext cx="5232493" cy="45222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2430"/>
                </a:solidFill>
                <a:latin typeface="Arial" pitchFamily="34" charset="0"/>
                <a:ea typeface="Arial" pitchFamily="34" charset="-122"/>
                <a:cs typeface="Arial" pitchFamily="34" charset="-120"/>
              </a:rPr>
              <a:t>Evaluation on in-house CAD data</a:t>
            </a:r>
            <a:r>
              <a:rPr lang="en-US" sz="1200" dirty="0">
                <a:solidFill>
                  <a:srgbClr val="1B2430"/>
                </a:solidFill>
                <a:latin typeface="Arial" pitchFamily="34" charset="0"/>
                <a:ea typeface="Arial" pitchFamily="34" charset="-122"/>
                <a:cs typeface="Arial" pitchFamily="34" charset="-120"/>
              </a:rPr>
              <a:t>, where licensing and data access permit.</a:t>
            </a:r>
            <a:endParaRPr lang="en-US" sz="1200" dirty="0"/>
          </a:p>
        </p:txBody>
      </p:sp>
      <p:sp>
        <p:nvSpPr>
          <p:cNvPr id="17" name="Text 15"/>
          <p:cNvSpPr/>
          <p:nvPr/>
        </p:nvSpPr>
        <p:spPr>
          <a:xfrm>
            <a:off x="812782" y="6238246"/>
            <a:ext cx="7194550" cy="23881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572"/>
                </a:solidFill>
                <a:latin typeface="Arial" pitchFamily="34" charset="0"/>
                <a:ea typeface="Arial" pitchFamily="34" charset="-122"/>
                <a:cs typeface="Arial" pitchFamily="34" charset="-120"/>
              </a:rPr>
              <a:t>CAD Design Similarity Search | Reference document</a:t>
            </a:r>
            <a:endParaRPr lang="en-US" sz="1200" dirty="0"/>
          </a:p>
        </p:txBody>
      </p:sp>
      <p:sp>
        <p:nvSpPr>
          <p:cNvPr id="18" name="Text 16"/>
          <p:cNvSpPr/>
          <p:nvPr/>
        </p:nvSpPr>
        <p:spPr>
          <a:xfrm>
            <a:off x="9233862" y="6238246"/>
            <a:ext cx="2145265" cy="23881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572"/>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theme/theme1.xml><?xml version="1.0" encoding="utf-8"?>
<a:theme xmlns:a="http://schemas.openxmlformats.org/drawingml/2006/main" name="CAD Design Similarity Search Reference">
  <a:themeElements>
    <a:clrScheme name="CAD Design Similarity Search Reference">
      <a:dk1>
        <a:srgbClr val="1B2430"/>
      </a:dk1>
      <a:lt1>
        <a:srgbClr val="F7F6F1"/>
      </a:lt1>
      <a:dk2>
        <a:srgbClr val="525960"/>
      </a:dk2>
      <a:lt2>
        <a:srgbClr val="E1E1DE"/>
      </a:lt2>
      <a:accent1>
        <a:srgbClr val="1F4E79"/>
      </a:accent1>
      <a:accent2>
        <a:srgbClr val="8FB4D9"/>
      </a:accent2>
      <a:accent3>
        <a:srgbClr val="5B6572"/>
      </a:accent3>
      <a:accent4>
        <a:srgbClr val="C9D3DD"/>
      </a:accent4>
      <a:accent5>
        <a:srgbClr val="9AA0A6"/>
      </a:accent5>
      <a:accent6>
        <a:srgbClr val="73787D"/>
      </a:accent6>
      <a:hlink>
        <a:srgbClr val="0563C1"/>
      </a:hlink>
      <a:folHlink>
        <a:srgbClr val="954F72"/>
      </a:folHlink>
    </a:clrScheme>
    <a:fontScheme name="CAD Design Similarity Search Referen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CAD Design Similarity Search Reference</dc:title>
  <dc:subject/>
  <dc:creator/>
  <cp:lastModifiedBy/>
  <cp:revision>1</cp:revision>
  <dcterms:created xsi:type="dcterms:W3CDTF">2026-10-20T11:55:00Z</dcterms:created>
  <dcterms:modified xsi:type="dcterms:W3CDTF">2026-10-20T11:55:00Z</dcterms:modified>
</cp:coreProperties>
</file>